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401" r:id="rId2"/>
    <p:sldId id="404" r:id="rId3"/>
    <p:sldId id="405" r:id="rId4"/>
    <p:sldId id="406" r:id="rId5"/>
    <p:sldId id="407" r:id="rId6"/>
    <p:sldId id="408" r:id="rId7"/>
    <p:sldId id="409" r:id="rId8"/>
    <p:sldId id="410" r:id="rId9"/>
    <p:sldId id="428" r:id="rId10"/>
    <p:sldId id="429" r:id="rId11"/>
    <p:sldId id="430" r:id="rId12"/>
    <p:sldId id="411" r:id="rId13"/>
    <p:sldId id="412" r:id="rId14"/>
    <p:sldId id="413" r:id="rId15"/>
    <p:sldId id="431" r:id="rId16"/>
    <p:sldId id="434" r:id="rId17"/>
    <p:sldId id="435" r:id="rId18"/>
    <p:sldId id="414" r:id="rId19"/>
    <p:sldId id="432" r:id="rId20"/>
    <p:sldId id="416" r:id="rId21"/>
    <p:sldId id="417" r:id="rId22"/>
    <p:sldId id="433" r:id="rId23"/>
    <p:sldId id="415" r:id="rId24"/>
    <p:sldId id="419" r:id="rId25"/>
    <p:sldId id="437" r:id="rId26"/>
    <p:sldId id="438" r:id="rId27"/>
    <p:sldId id="425" r:id="rId28"/>
    <p:sldId id="436" r:id="rId29"/>
    <p:sldId id="426" r:id="rId30"/>
    <p:sldId id="427" r:id="rId31"/>
    <p:sldId id="439" r:id="rId32"/>
    <p:sldId id="440" r:id="rId33"/>
    <p:sldId id="441" r:id="rId34"/>
    <p:sldId id="442" r:id="rId3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7" autoAdjust="0"/>
    <p:restoredTop sz="94660"/>
  </p:normalViewPr>
  <p:slideViewPr>
    <p:cSldViewPr snapToGrid="0" showGuides="1">
      <p:cViewPr>
        <p:scale>
          <a:sx n="41" d="100"/>
          <a:sy n="41" d="100"/>
        </p:scale>
        <p:origin x="1320" y="596"/>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1A7B7D6C-D84B-4084-8B78-823A5CB5C61B}" type="datetimeFigureOut">
              <a:rPr lang="en-US" smtClean="0"/>
              <a:t>5/7/2026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5A52B74-84A3-4673-ABE4-F0CF5A8713E4}" type="slidenum">
              <a:rPr lang="en-US" smtClean="0"/>
              <a:t>‹#›</a:t>
            </a:fld>
            <a:endParaRPr lang="en-US"/>
          </a:p>
        </p:txBody>
      </p:sp>
    </p:spTree>
    <p:extLst>
      <p:ext uri="{BB962C8B-B14F-4D97-AF65-F5344CB8AC3E}">
        <p14:creationId xmlns:p14="http://schemas.microsoft.com/office/powerpoint/2010/main" val="1168265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Shape 161"/>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0856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7142133C-9C94-F688-EFBD-6A4F160C3C97}"/>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30B45538-B5EE-02B0-9DA0-4D313915070A}"/>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893E1EC0-4C53-876B-78FD-C10795B60D1C}"/>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2343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2E9C03F5-A9FB-ACD0-094E-07EB704EC9F9}"/>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965B5174-4ECF-8ABD-7E07-9C2862A3B959}"/>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299CAC2C-D36A-336E-7986-0D85F819817A}"/>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2986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59CE9F7-29AC-F734-60CE-39A2F150DB43}"/>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7BCC6CF1-11CD-9247-16A3-F4B45B2F520D}"/>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655D490D-26DD-BD53-101E-5DC27131C7BC}"/>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3614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8DF6AFB-CADC-9BA1-F3ED-EB3A39611F35}"/>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A95B0BFF-1AB0-90C8-2506-6A9B3461144E}"/>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A1E74D6C-4D9C-8A7D-E03B-C0084D138EB9}"/>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293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5BAD81B1-F3D4-132E-23BE-6B8ABD92E8C4}"/>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A24B4628-6565-6BC1-FB83-EA50A6BB65F0}"/>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618E1AA0-6CB4-D353-FFB6-AFC4F73C723D}"/>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2383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C55FA05A-EF78-7C24-3AF8-4BA927B7ECF7}"/>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94FC0B38-26CA-4BAF-E7C3-34E6449AEEE9}"/>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F2EBEEFF-A8C9-24AA-9166-582A382AE870}"/>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213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AC35FDA0-0E82-3F76-7C56-86D7C9C2087B}"/>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96FFAD91-FB82-4071-AB9D-10F9A8D96C56}"/>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2E0C874D-166C-4F31-8974-31D57051FCE9}"/>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5287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A2263568-197A-ED39-976F-A462E71E8F25}"/>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F54A2A80-6043-2A1A-E62C-EC61423C3150}"/>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08897B93-283A-F0EA-5743-24EF3A8DA395}"/>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408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331ACCA3-C234-CE2B-35BB-3FBA8C17C2A8}"/>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FA0A1EEC-85DD-76E2-16FD-FB7CF03BCBB1}"/>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CC3F9CDD-1F8E-9D7A-6F85-77A57D1E4684}"/>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6068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7D1941A2-ECE4-62B2-2080-CF9A1676C06B}"/>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271BE220-8A66-C984-80BD-EB3A2D595D4A}"/>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4245690A-25C2-ABAB-BBD1-525BF0347CCF}"/>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2426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CA097BF9-3513-8CB2-B7E1-250E94D989DE}"/>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3D96A5F5-1BDF-8CD1-1905-C543D5D9650B}"/>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2F709B29-19B9-47BE-35D9-E9340558D9DF}"/>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6430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99ADE701-1F1B-FAD0-F269-6A9F95B0544E}"/>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F607E17E-EE34-37B9-69AD-CCD37A0F5DBE}"/>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3E52842C-792E-D19B-DCAD-C055D49ACCDA}"/>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3725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9D0DD7DF-A0F7-4A3C-3FAE-343452B6A0D1}"/>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EC7F0EE3-7767-C41E-A5DC-9D36A9BD596B}"/>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3946634B-A667-885C-18C8-A25783063B75}"/>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391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30C14548-E66F-9359-7B80-11601AD7671E}"/>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87AE9AB0-580B-81A4-CC9F-C765C4A73EFF}"/>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CB9C951A-CC99-4191-7712-F083FB5DF4E2}"/>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6391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B2FD984A-0DFB-4421-AF99-9F68F90D1944}"/>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9D95A3AF-7A2F-700A-FC72-6A5BEE6FBB4B}"/>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8707562A-DEE9-FBE1-CDC1-BBAA5EE8A3C8}"/>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606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1FB9499A-58A6-521B-3F16-A2B4C6999D5A}"/>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A3451F63-73A2-9C79-3D4E-E1C10B6E5BC7}"/>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B3C29737-1B04-8E92-5673-08F431D0175E}"/>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9014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267CBFD6-086B-6DE0-70BF-505A225605CA}"/>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5565B3B5-E86A-37B6-F12A-4CDBF4D1ABBF}"/>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5F26AEC4-71F5-1E71-4BED-0A69FCD7952C}"/>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8292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6C949D09-375D-C165-F209-7F7347533529}"/>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FDD99715-6E45-EB5C-BFB8-24F866AFC603}"/>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DA06810A-E141-39D1-9AE1-2FCFC31CB5D7}"/>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183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B8C266E4-4360-75BF-3E7B-8AF970F57624}"/>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38C885DE-E949-5E53-C37C-B4B7A2FFA678}"/>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873EF9D6-61BC-48E1-39C3-DE66652533D9}"/>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1048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321BD777-C64E-A9CC-42F9-B87AD97FC004}"/>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4DC949FA-9B7C-CB13-4D91-B5E0B0853ADA}"/>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F200BD4E-4B4A-8D6F-E4BC-9A5E319254FE}"/>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8857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8794C226-A49A-8712-4F98-A5F555F9A937}"/>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4D180D15-9FC7-120D-8E3F-B917C7B7EB9A}"/>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30E153B7-6E65-22A0-B19D-87331FF4A67F}"/>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5424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3864959F-8981-B78F-DD8D-01801FE6DB43}"/>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A21EB4D3-1992-BB08-31F9-1A93BD2CDDDF}"/>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DEA8EB3C-FF0E-E31D-8DA0-6FD264778A65}"/>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9050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CEC8A9FA-1B87-C946-334A-AC90F1922C92}"/>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248E0CC2-AB3B-E678-F40B-7C5F5394E0E5}"/>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8DB4AA1D-23A1-E719-16E2-D033686F8C59}"/>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655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9650CA6F-7E39-EB64-478D-A6970104C5F6}"/>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B4DE059C-C35A-DD54-3022-34DCEEEC2A07}"/>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D153D9CE-2EED-AD16-83CD-A7D7EBC139AE}"/>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6898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FC7A4429-F734-73C2-46C8-2312AAD6C701}"/>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686B3D10-02C0-1747-5D4B-27FD7D573291}"/>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7BC629A6-A645-C426-FBF3-54361C3D83C7}"/>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3506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C66CB4C7-9874-2196-B2B7-17113C3968DB}"/>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9273B4E5-76CC-AB19-3EAE-77FD047064F7}"/>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70F4B74D-C373-CB87-4BB0-4CA2CD9C6CFF}"/>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7735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67C9EC8F-5EE7-F732-4E24-0552EEC1756F}"/>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2A0095AB-96DF-B71E-DD5E-FFEA6B83A3E9}"/>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F8720BF6-B8D9-CBA4-0EA0-5384C00AE231}"/>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84176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FC50EFEA-3AE1-DFFA-D98B-B8D71903335D}"/>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33E201AF-B7E7-2128-7986-E20F416EC7CB}"/>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06BC2DAF-6CF0-1020-3E1D-9B52D3DA17D7}"/>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4927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15BB12C0-1C52-C604-B5B2-9AA6F20E7EDC}"/>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A88D68D4-96D5-48E2-8050-902DE010FE94}"/>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594DF75C-0019-83C9-FC9B-D436626FC3C8}"/>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9453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E3AF6B13-7310-8A25-E07E-9D3FB79DF466}"/>
            </a:ext>
          </a:extLst>
        </p:cNvPr>
        <p:cNvGrpSpPr/>
        <p:nvPr/>
      </p:nvGrpSpPr>
      <p:grpSpPr>
        <a:xfrm>
          <a:off x="0" y="0"/>
          <a:ext cx="0" cy="0"/>
          <a:chOff x="0" y="0"/>
          <a:chExt cx="0" cy="0"/>
        </a:xfrm>
      </p:grpSpPr>
      <p:sp>
        <p:nvSpPr>
          <p:cNvPr id="161" name="Shape 161">
            <a:extLst>
              <a:ext uri="{FF2B5EF4-FFF2-40B4-BE49-F238E27FC236}">
                <a16:creationId xmlns:a16="http://schemas.microsoft.com/office/drawing/2014/main" id="{3669A35B-089E-1B49-9BC0-491260DBC41E}"/>
              </a:ext>
            </a:extLst>
          </p:cNvPr>
          <p:cNvSpPr txBox="1">
            <a:spLocks noGrp="1"/>
          </p:cNvSpPr>
          <p:nvPr>
            <p:ph type="body" idx="1"/>
          </p:nvPr>
        </p:nvSpPr>
        <p:spPr>
          <a:xfrm>
            <a:off x="701041" y="4415790"/>
            <a:ext cx="5608319" cy="4183380"/>
          </a:xfrm>
          <a:prstGeom prst="rect">
            <a:avLst/>
          </a:prstGeom>
          <a:noFill/>
          <a:ln>
            <a:noFill/>
          </a:ln>
        </p:spPr>
        <p:txBody>
          <a:bodyPr lIns="93162" tIns="93162" rIns="93162" bIns="93162" anchor="ctr" anchorCtr="0">
            <a:noAutofit/>
          </a:bodyPr>
          <a:lstStyle/>
          <a:p>
            <a:endParaRPr/>
          </a:p>
        </p:txBody>
      </p:sp>
      <p:sp>
        <p:nvSpPr>
          <p:cNvPr id="162" name="Shape 162">
            <a:extLst>
              <a:ext uri="{FF2B5EF4-FFF2-40B4-BE49-F238E27FC236}">
                <a16:creationId xmlns:a16="http://schemas.microsoft.com/office/drawing/2014/main" id="{68497818-AF34-4CB7-EB86-0B87628D02DC}"/>
              </a:ext>
            </a:extLst>
          </p:cNvPr>
          <p:cNvSpPr>
            <a:spLocks noGrp="1" noRot="1" noChangeAspect="1"/>
          </p:cNvSpPr>
          <p:nvPr>
            <p:ph type="sldImg" idx="2"/>
          </p:nvPr>
        </p:nvSpPr>
        <p:spPr>
          <a:xfrm>
            <a:off x="406400" y="696913"/>
            <a:ext cx="61976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2649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94230B4-DAF5-4055-8563-8C4AE8AF2AC8}"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61835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230B4-DAF5-4055-8563-8C4AE8AF2AC8}"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406899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230B4-DAF5-4055-8563-8C4AE8AF2AC8}"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2629658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94230B4-DAF5-4055-8563-8C4AE8AF2AC8}"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3705244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94230B4-DAF5-4055-8563-8C4AE8AF2AC8}"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3860262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4230B4-DAF5-4055-8563-8C4AE8AF2AC8}"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2139003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4230B4-DAF5-4055-8563-8C4AE8AF2AC8}"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194018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4230B4-DAF5-4055-8563-8C4AE8AF2AC8}"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146003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4230B4-DAF5-4055-8563-8C4AE8AF2AC8}"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325263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230B4-DAF5-4055-8563-8C4AE8AF2AC8}"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561029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230B4-DAF5-4055-8563-8C4AE8AF2AC8}"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D46B07-16DC-49AC-B482-B36B77C35D76}" type="slidenum">
              <a:rPr lang="en-US" smtClean="0"/>
              <a:t>‹#›</a:t>
            </a:fld>
            <a:endParaRPr lang="en-US"/>
          </a:p>
        </p:txBody>
      </p:sp>
    </p:spTree>
    <p:extLst>
      <p:ext uri="{BB962C8B-B14F-4D97-AF65-F5344CB8AC3E}">
        <p14:creationId xmlns:p14="http://schemas.microsoft.com/office/powerpoint/2010/main" val="2532571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4230B4-DAF5-4055-8563-8C4AE8AF2AC8}" type="datetimeFigureOut">
              <a:rPr lang="en-US" smtClean="0"/>
              <a:t>5/7/2026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46B07-16DC-49AC-B482-B36B77C35D76}" type="slidenum">
              <a:rPr lang="en-US" smtClean="0"/>
              <a:t>‹#›</a:t>
            </a:fld>
            <a:endParaRPr lang="en-US"/>
          </a:p>
        </p:txBody>
      </p:sp>
    </p:spTree>
    <p:extLst>
      <p:ext uri="{BB962C8B-B14F-4D97-AF65-F5344CB8AC3E}">
        <p14:creationId xmlns:p14="http://schemas.microsoft.com/office/powerpoint/2010/main" val="2843573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Notes_in%C3%A9gale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3A522-8138-D706-908C-4B80BE4CC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0B9E9-D854-9AAF-CB35-6F256F979B92}"/>
              </a:ext>
            </a:extLst>
          </p:cNvPr>
          <p:cNvSpPr>
            <a:spLocks noGrp="1"/>
          </p:cNvSpPr>
          <p:nvPr>
            <p:ph type="title"/>
          </p:nvPr>
        </p:nvSpPr>
        <p:spPr/>
        <p:txBody>
          <a:bodyPr>
            <a:normAutofit/>
          </a:bodyPr>
          <a:lstStyle/>
          <a:p>
            <a:r>
              <a:rPr lang="en-US" sz="3600" b="1" dirty="0"/>
              <a:t>MUS 223 • Literature and Materials of Music II</a:t>
            </a:r>
            <a:endParaRPr lang="en-US" sz="3800" b="1" dirty="0"/>
          </a:p>
        </p:txBody>
      </p:sp>
      <p:sp>
        <p:nvSpPr>
          <p:cNvPr id="3" name="Content Placeholder 2">
            <a:extLst>
              <a:ext uri="{FF2B5EF4-FFF2-40B4-BE49-F238E27FC236}">
                <a16:creationId xmlns:a16="http://schemas.microsoft.com/office/drawing/2014/main" id="{3644F23B-BF29-0187-4CBE-4E789D256D1A}"/>
              </a:ext>
            </a:extLst>
          </p:cNvPr>
          <p:cNvSpPr>
            <a:spLocks noGrp="1"/>
          </p:cNvSpPr>
          <p:nvPr>
            <p:ph idx="1"/>
          </p:nvPr>
        </p:nvSpPr>
        <p:spPr>
          <a:xfrm>
            <a:off x="838199" y="2087330"/>
            <a:ext cx="10804071" cy="3113316"/>
          </a:xfrm>
        </p:spPr>
        <p:txBody>
          <a:bodyPr>
            <a:normAutofit fontScale="92500" lnSpcReduction="20000"/>
          </a:bodyPr>
          <a:lstStyle/>
          <a:p>
            <a:pPr marL="0" indent="0">
              <a:buNone/>
            </a:pPr>
            <a:r>
              <a:rPr lang="en-US" sz="2400" b="1" dirty="0">
                <a:latin typeface="+mj-lt"/>
              </a:rPr>
              <a:t>Today (Monday, May 4, 2026): Jazz Basics</a:t>
            </a:r>
          </a:p>
          <a:p>
            <a:pPr marL="1371600" indent="-457200">
              <a:buFont typeface="+mj-lt"/>
              <a:buAutoNum type="arabicPeriod"/>
            </a:pPr>
            <a:r>
              <a:rPr lang="en-US" sz="2400" dirty="0">
                <a:latin typeface="+mj-lt"/>
              </a:rPr>
              <a:t>Melody</a:t>
            </a:r>
          </a:p>
          <a:p>
            <a:pPr marL="1828800" lvl="1" indent="-457200"/>
            <a:r>
              <a:rPr lang="en-US" sz="2000" dirty="0">
                <a:latin typeface="+mj-lt"/>
              </a:rPr>
              <a:t>Old Scales </a:t>
            </a:r>
          </a:p>
          <a:p>
            <a:pPr marL="1828800" lvl="1" indent="-457200"/>
            <a:r>
              <a:rPr lang="en-US" sz="2000" dirty="0">
                <a:latin typeface="+mj-lt"/>
              </a:rPr>
              <a:t>A New Scale: The Blues Scale</a:t>
            </a:r>
          </a:p>
          <a:p>
            <a:pPr marL="1371600" indent="-457200">
              <a:buFont typeface="+mj-lt"/>
              <a:buAutoNum type="arabicPeriod"/>
            </a:pPr>
            <a:r>
              <a:rPr lang="en-US" sz="2400" dirty="0">
                <a:latin typeface="+mj-lt"/>
              </a:rPr>
              <a:t>Rhythm</a:t>
            </a:r>
          </a:p>
          <a:p>
            <a:pPr marL="1828800" lvl="1" indent="-457200"/>
            <a:r>
              <a:rPr lang="en-US" sz="2000" dirty="0">
                <a:latin typeface="+mj-lt"/>
              </a:rPr>
              <a:t>Swing </a:t>
            </a:r>
          </a:p>
          <a:p>
            <a:pPr marL="1828800" lvl="1" indent="-457200"/>
            <a:r>
              <a:rPr lang="en-US" sz="2000" dirty="0">
                <a:latin typeface="+mj-lt"/>
              </a:rPr>
              <a:t>Syncopation</a:t>
            </a:r>
          </a:p>
          <a:p>
            <a:pPr marL="1371600" indent="-457200">
              <a:buFont typeface="+mj-lt"/>
              <a:buAutoNum type="arabicPeriod"/>
            </a:pPr>
            <a:r>
              <a:rPr lang="en-US" sz="2400" dirty="0">
                <a:latin typeface="+mj-lt"/>
              </a:rPr>
              <a:t>Harmony </a:t>
            </a:r>
          </a:p>
          <a:p>
            <a:pPr marL="1828800" lvl="1" indent="-457200"/>
            <a:r>
              <a:rPr lang="en-US" sz="2000" dirty="0">
                <a:latin typeface="+mj-lt"/>
              </a:rPr>
              <a:t>Extensions</a:t>
            </a:r>
          </a:p>
          <a:p>
            <a:pPr marL="1828800" lvl="1" indent="-457200"/>
            <a:r>
              <a:rPr lang="en-US" sz="2000" dirty="0">
                <a:latin typeface="+mj-lt"/>
              </a:rPr>
              <a:t>Chord Symbols</a:t>
            </a:r>
          </a:p>
        </p:txBody>
      </p:sp>
      <p:sp>
        <p:nvSpPr>
          <p:cNvPr id="4" name="TextBox 3">
            <a:extLst>
              <a:ext uri="{FF2B5EF4-FFF2-40B4-BE49-F238E27FC236}">
                <a16:creationId xmlns:a16="http://schemas.microsoft.com/office/drawing/2014/main" id="{6BA33910-8386-6F13-1407-7585955D6A62}"/>
              </a:ext>
            </a:extLst>
          </p:cNvPr>
          <p:cNvSpPr txBox="1"/>
          <p:nvPr/>
        </p:nvSpPr>
        <p:spPr>
          <a:xfrm>
            <a:off x="838200" y="1428750"/>
            <a:ext cx="10804070" cy="461665"/>
          </a:xfrm>
          <a:prstGeom prst="rect">
            <a:avLst/>
          </a:prstGeom>
          <a:noFill/>
        </p:spPr>
        <p:txBody>
          <a:bodyPr wrap="square" rtlCol="0">
            <a:spAutoFit/>
          </a:bodyPr>
          <a:lstStyle/>
          <a:p>
            <a:pPr algn="r"/>
            <a:r>
              <a:rPr lang="en-US" sz="2400" dirty="0"/>
              <a:t>Now playing: “Livery Stable Blues,” Original Dixieland Jass Band (1917)</a:t>
            </a:r>
          </a:p>
        </p:txBody>
      </p:sp>
      <p:cxnSp>
        <p:nvCxnSpPr>
          <p:cNvPr id="13" name="Straight Connector 12">
            <a:extLst>
              <a:ext uri="{FF2B5EF4-FFF2-40B4-BE49-F238E27FC236}">
                <a16:creationId xmlns:a16="http://schemas.microsoft.com/office/drawing/2014/main" id="{C538FA90-75C4-B084-5E57-B12B46BC9927}"/>
              </a:ext>
            </a:extLst>
          </p:cNvPr>
          <p:cNvCxnSpPr/>
          <p:nvPr/>
        </p:nvCxnSpPr>
        <p:spPr>
          <a:xfrm>
            <a:off x="912019" y="5275262"/>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E66011-F3A9-C853-3AB5-5946B1271F11}"/>
              </a:ext>
            </a:extLst>
          </p:cNvPr>
          <p:cNvCxnSpPr/>
          <p:nvPr/>
        </p:nvCxnSpPr>
        <p:spPr>
          <a:xfrm>
            <a:off x="912019" y="1943094"/>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F28E742-0D39-BE81-201E-9951988CDD6F}"/>
              </a:ext>
            </a:extLst>
          </p:cNvPr>
          <p:cNvSpPr txBox="1"/>
          <p:nvPr/>
        </p:nvSpPr>
        <p:spPr>
          <a:xfrm>
            <a:off x="838200" y="5200646"/>
            <a:ext cx="10515600" cy="830997"/>
          </a:xfrm>
          <a:prstGeom prst="rect">
            <a:avLst/>
          </a:prstGeom>
          <a:noFill/>
        </p:spPr>
        <p:txBody>
          <a:bodyPr wrap="square" rtlCol="0">
            <a:spAutoFit/>
          </a:bodyPr>
          <a:lstStyle/>
          <a:p>
            <a:r>
              <a:rPr lang="en-US" sz="2400" i="1" dirty="0">
                <a:latin typeface="Calibri Light" panose="020F0302020204030204" pitchFamily="34" charset="0"/>
                <a:ea typeface="Calibri Light" panose="020F0302020204030204" pitchFamily="34" charset="0"/>
                <a:cs typeface="Calibri Light" panose="020F0302020204030204" pitchFamily="34" charset="0"/>
              </a:rPr>
              <a:t>To do for next time:</a:t>
            </a:r>
          </a:p>
          <a:p>
            <a:pPr marL="914400" lvl="1" indent="-4572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Homework #5 is due next </a:t>
            </a:r>
            <a:r>
              <a:rPr lang="en-US" sz="2400" b="1" dirty="0">
                <a:solidFill>
                  <a:schemeClr val="accent2"/>
                </a:solidFill>
                <a:latin typeface="Calibri Light" panose="020F0302020204030204" pitchFamily="34" charset="0"/>
                <a:ea typeface="Calibri Light" panose="020F0302020204030204" pitchFamily="34" charset="0"/>
                <a:cs typeface="Calibri Light" panose="020F0302020204030204" pitchFamily="34" charset="0"/>
              </a:rPr>
              <a:t>Monday</a:t>
            </a:r>
            <a:r>
              <a:rPr lang="en-US" sz="24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260227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Shape 165"/>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Old Scales</a:t>
            </a:r>
            <a:endParaRPr lang="en" b="0" dirty="0">
              <a:ea typeface="Yanone Kaffeesatz"/>
              <a:cs typeface="Yanone Kaffeesatz"/>
              <a:sym typeface="Yanone Kaffeesatz"/>
            </a:endParaRPr>
          </a:p>
        </p:txBody>
      </p:sp>
      <p:pic>
        <p:nvPicPr>
          <p:cNvPr id="2" name="Picture 1"/>
          <p:cNvPicPr>
            <a:picLocks noChangeAspect="1"/>
          </p:cNvPicPr>
          <p:nvPr/>
        </p:nvPicPr>
        <p:blipFill>
          <a:blip r:embed="rId3"/>
          <a:stretch>
            <a:fillRect/>
          </a:stretch>
        </p:blipFill>
        <p:spPr>
          <a:xfrm>
            <a:off x="6869247" y="4265983"/>
            <a:ext cx="4872106" cy="1989656"/>
          </a:xfrm>
          <a:prstGeom prst="rect">
            <a:avLst/>
          </a:prstGeom>
        </p:spPr>
      </p:pic>
      <p:pic>
        <p:nvPicPr>
          <p:cNvPr id="3" name="Picture 2">
            <a:extLst>
              <a:ext uri="{FF2B5EF4-FFF2-40B4-BE49-F238E27FC236}">
                <a16:creationId xmlns:a16="http://schemas.microsoft.com/office/drawing/2014/main" id="{8F8BCE7C-E71D-2D10-9AC6-B1CF0E5706AD}"/>
              </a:ext>
            </a:extLst>
          </p:cNvPr>
          <p:cNvPicPr>
            <a:picLocks noChangeAspect="1"/>
          </p:cNvPicPr>
          <p:nvPr/>
        </p:nvPicPr>
        <p:blipFill>
          <a:blip r:embed="rId4"/>
          <a:stretch>
            <a:fillRect/>
          </a:stretch>
        </p:blipFill>
        <p:spPr>
          <a:xfrm>
            <a:off x="7006851" y="251787"/>
            <a:ext cx="4985389" cy="1345402"/>
          </a:xfrm>
          <a:prstGeom prst="rect">
            <a:avLst/>
          </a:prstGeom>
        </p:spPr>
      </p:pic>
      <p:pic>
        <p:nvPicPr>
          <p:cNvPr id="5" name="Picture 4"/>
          <p:cNvPicPr>
            <a:picLocks noChangeAspect="1"/>
          </p:cNvPicPr>
          <p:nvPr/>
        </p:nvPicPr>
        <p:blipFill>
          <a:blip r:embed="rId5"/>
          <a:stretch>
            <a:fillRect/>
          </a:stretch>
        </p:blipFill>
        <p:spPr>
          <a:xfrm>
            <a:off x="6869247" y="1597189"/>
            <a:ext cx="5147313" cy="1989656"/>
          </a:xfrm>
          <a:prstGeom prst="rect">
            <a:avLst/>
          </a:prstGeom>
        </p:spPr>
      </p:pic>
      <p:pic>
        <p:nvPicPr>
          <p:cNvPr id="6" name="Picture 5">
            <a:extLst>
              <a:ext uri="{FF2B5EF4-FFF2-40B4-BE49-F238E27FC236}">
                <a16:creationId xmlns:a16="http://schemas.microsoft.com/office/drawing/2014/main" id="{8EA52993-1C25-7FE6-EA91-5FC466D84ECD}"/>
              </a:ext>
            </a:extLst>
          </p:cNvPr>
          <p:cNvPicPr>
            <a:picLocks noChangeAspect="1"/>
          </p:cNvPicPr>
          <p:nvPr/>
        </p:nvPicPr>
        <p:blipFill>
          <a:blip r:embed="rId6"/>
          <a:stretch>
            <a:fillRect/>
          </a:stretch>
        </p:blipFill>
        <p:spPr>
          <a:xfrm>
            <a:off x="1060719" y="1353231"/>
            <a:ext cx="5486762" cy="5310830"/>
          </a:xfrm>
          <a:prstGeom prst="rect">
            <a:avLst/>
          </a:prstGeom>
        </p:spPr>
      </p:pic>
    </p:spTree>
    <p:extLst>
      <p:ext uri="{BB962C8B-B14F-4D97-AF65-F5344CB8AC3E}">
        <p14:creationId xmlns:p14="http://schemas.microsoft.com/office/powerpoint/2010/main" val="3022285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FDA6F00-F988-D1CD-E205-E1FF031B1C5B}"/>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A5B7AC6C-EF53-072C-76A3-92AA9E04849E}"/>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New Scale[s]: The Blues Scale</a:t>
            </a:r>
            <a:endParaRPr lang="en" b="0" dirty="0">
              <a:ea typeface="Yanone Kaffeesatz"/>
              <a:cs typeface="Yanone Kaffeesatz"/>
              <a:sym typeface="Yanone Kaffeesatz"/>
            </a:endParaRPr>
          </a:p>
        </p:txBody>
      </p:sp>
      <p:pic>
        <p:nvPicPr>
          <p:cNvPr id="2" name="Picture 1">
            <a:extLst>
              <a:ext uri="{FF2B5EF4-FFF2-40B4-BE49-F238E27FC236}">
                <a16:creationId xmlns:a16="http://schemas.microsoft.com/office/drawing/2014/main" id="{64265098-FB8D-A91F-ADBD-DF21B59D222E}"/>
              </a:ext>
            </a:extLst>
          </p:cNvPr>
          <p:cNvPicPr>
            <a:picLocks noChangeAspect="1"/>
          </p:cNvPicPr>
          <p:nvPr/>
        </p:nvPicPr>
        <p:blipFill>
          <a:blip r:embed="rId3"/>
          <a:srcRect t="54241" b="5275"/>
          <a:stretch/>
        </p:blipFill>
        <p:spPr>
          <a:xfrm>
            <a:off x="5879203" y="1596631"/>
            <a:ext cx="6117704" cy="1011407"/>
          </a:xfrm>
          <a:prstGeom prst="rect">
            <a:avLst/>
          </a:prstGeom>
        </p:spPr>
      </p:pic>
      <p:sp>
        <p:nvSpPr>
          <p:cNvPr id="7" name="TextBox 6">
            <a:extLst>
              <a:ext uri="{FF2B5EF4-FFF2-40B4-BE49-F238E27FC236}">
                <a16:creationId xmlns:a16="http://schemas.microsoft.com/office/drawing/2014/main" id="{A4C99A69-E746-802E-8495-ABE4A491BCF6}"/>
              </a:ext>
            </a:extLst>
          </p:cNvPr>
          <p:cNvSpPr txBox="1"/>
          <p:nvPr/>
        </p:nvSpPr>
        <p:spPr>
          <a:xfrm>
            <a:off x="331100" y="1667830"/>
            <a:ext cx="5217084" cy="923330"/>
          </a:xfrm>
          <a:prstGeom prst="rect">
            <a:avLst/>
          </a:prstGeom>
          <a:noFill/>
        </p:spPr>
        <p:txBody>
          <a:bodyPr wrap="square">
            <a:spAutoFit/>
          </a:bodyPr>
          <a:lstStyle/>
          <a:p>
            <a:pPr algn="l"/>
            <a:r>
              <a:rPr lang="en-US" b="0" i="0" dirty="0">
                <a:solidFill>
                  <a:srgbClr val="000000"/>
                </a:solidFill>
                <a:effectLst/>
                <a:latin typeface="+mj-lt"/>
              </a:rPr>
              <a:t>The blues scale is like a </a:t>
            </a:r>
            <a:r>
              <a:rPr lang="en-US" b="1" i="0" u="none" strike="noStrike" dirty="0">
                <a:solidFill>
                  <a:srgbClr val="FF0000"/>
                </a:solidFill>
                <a:effectLst/>
                <a:latin typeface="+mj-lt"/>
              </a:rPr>
              <a:t>minor pentatonic scale</a:t>
            </a:r>
            <a:r>
              <a:rPr lang="en-US" b="1" u="none" strike="noStrike" dirty="0">
                <a:solidFill>
                  <a:srgbClr val="FF0000"/>
                </a:solidFill>
                <a:latin typeface="+mj-lt"/>
              </a:rPr>
              <a:t> </a:t>
            </a:r>
            <a:r>
              <a:rPr lang="en-US" b="0" i="0" dirty="0">
                <a:solidFill>
                  <a:srgbClr val="000000"/>
                </a:solidFill>
                <a:effectLst/>
                <a:latin typeface="+mj-lt"/>
              </a:rPr>
              <a:t>with an additional chromatic </a:t>
            </a:r>
            <a:r>
              <a:rPr lang="en-US" b="1" i="0" u="none" strike="noStrike" dirty="0">
                <a:solidFill>
                  <a:srgbClr val="FF0000"/>
                </a:solidFill>
                <a:effectLst/>
                <a:latin typeface="+mj-lt"/>
              </a:rPr>
              <a:t>passing tone</a:t>
            </a:r>
            <a:r>
              <a:rPr lang="en-US" b="0" i="0" dirty="0">
                <a:solidFill>
                  <a:srgbClr val="000000"/>
                </a:solidFill>
                <a:effectLst/>
                <a:latin typeface="+mj-lt"/>
              </a:rPr>
              <a:t>: </a:t>
            </a:r>
          </a:p>
          <a:p>
            <a:pPr algn="l"/>
            <a:r>
              <a:rPr lang="en-US" b="0" i="1" dirty="0">
                <a:solidFill>
                  <a:srgbClr val="000000"/>
                </a:solidFill>
                <a:effectLst/>
                <a:latin typeface="+mj-lt"/>
              </a:rPr>
              <a:t>do–me–fa–fi–sol–</a:t>
            </a:r>
            <a:r>
              <a:rPr lang="en-US" b="0" i="1" dirty="0" err="1">
                <a:solidFill>
                  <a:srgbClr val="000000"/>
                </a:solidFill>
                <a:effectLst/>
                <a:latin typeface="+mj-lt"/>
              </a:rPr>
              <a:t>te</a:t>
            </a:r>
            <a:r>
              <a:rPr lang="en-US" dirty="0">
                <a:solidFill>
                  <a:srgbClr val="000000"/>
                </a:solidFill>
                <a:latin typeface="+mj-lt"/>
              </a:rPr>
              <a:t> </a:t>
            </a:r>
            <a:r>
              <a:rPr lang="en-US" b="0" i="0" dirty="0">
                <a:solidFill>
                  <a:srgbClr val="000000"/>
                </a:solidFill>
                <a:effectLst/>
                <a:latin typeface="+mj-lt"/>
              </a:rPr>
              <a:t>(1^−↓3^−4^−↑4^−5^−↓7^) </a:t>
            </a:r>
          </a:p>
        </p:txBody>
      </p:sp>
      <p:pic>
        <p:nvPicPr>
          <p:cNvPr id="9" name="Picture 8">
            <a:extLst>
              <a:ext uri="{FF2B5EF4-FFF2-40B4-BE49-F238E27FC236}">
                <a16:creationId xmlns:a16="http://schemas.microsoft.com/office/drawing/2014/main" id="{221E2BC3-DF23-CFC3-E5D6-D7A515C32010}"/>
              </a:ext>
            </a:extLst>
          </p:cNvPr>
          <p:cNvPicPr>
            <a:picLocks noChangeAspect="1"/>
          </p:cNvPicPr>
          <p:nvPr/>
        </p:nvPicPr>
        <p:blipFill>
          <a:blip r:embed="rId4"/>
          <a:srcRect r="55423"/>
          <a:stretch/>
        </p:blipFill>
        <p:spPr>
          <a:xfrm>
            <a:off x="5969702" y="2677488"/>
            <a:ext cx="2968353" cy="1838582"/>
          </a:xfrm>
          <a:prstGeom prst="rect">
            <a:avLst/>
          </a:prstGeom>
        </p:spPr>
      </p:pic>
      <p:pic>
        <p:nvPicPr>
          <p:cNvPr id="10" name="Picture 9">
            <a:extLst>
              <a:ext uri="{FF2B5EF4-FFF2-40B4-BE49-F238E27FC236}">
                <a16:creationId xmlns:a16="http://schemas.microsoft.com/office/drawing/2014/main" id="{729AA9A1-1FC5-3A73-2668-1D1C95BC091B}"/>
              </a:ext>
            </a:extLst>
          </p:cNvPr>
          <p:cNvPicPr>
            <a:picLocks noChangeAspect="1"/>
          </p:cNvPicPr>
          <p:nvPr/>
        </p:nvPicPr>
        <p:blipFill>
          <a:blip r:embed="rId4"/>
          <a:srcRect l="57240" r="-1817"/>
          <a:stretch/>
        </p:blipFill>
        <p:spPr>
          <a:xfrm>
            <a:off x="9223646" y="2677488"/>
            <a:ext cx="2968354" cy="1838582"/>
          </a:xfrm>
          <a:prstGeom prst="rect">
            <a:avLst/>
          </a:prstGeom>
        </p:spPr>
      </p:pic>
      <p:sp>
        <p:nvSpPr>
          <p:cNvPr id="12" name="TextBox 11">
            <a:extLst>
              <a:ext uri="{FF2B5EF4-FFF2-40B4-BE49-F238E27FC236}">
                <a16:creationId xmlns:a16="http://schemas.microsoft.com/office/drawing/2014/main" id="{9EEB1577-5D8D-2998-50A3-EAF691475136}"/>
              </a:ext>
            </a:extLst>
          </p:cNvPr>
          <p:cNvSpPr txBox="1"/>
          <p:nvPr/>
        </p:nvSpPr>
        <p:spPr>
          <a:xfrm>
            <a:off x="331100" y="3066512"/>
            <a:ext cx="4323556" cy="1200329"/>
          </a:xfrm>
          <a:prstGeom prst="rect">
            <a:avLst/>
          </a:prstGeom>
          <a:noFill/>
        </p:spPr>
        <p:txBody>
          <a:bodyPr wrap="square">
            <a:spAutoFit/>
          </a:bodyPr>
          <a:lstStyle/>
          <a:p>
            <a:r>
              <a:rPr lang="en-US" b="0" i="0" dirty="0">
                <a:solidFill>
                  <a:srgbClr val="373D3F"/>
                </a:solidFill>
                <a:effectLst/>
                <a:latin typeface="+mj-lt"/>
              </a:rPr>
              <a:t>It’s a useful scale for beginning improvisers to base their melodies on. It works for both tonic and dominant harmonies in many blues and jazz contexts.</a:t>
            </a:r>
            <a:endParaRPr lang="en-US" dirty="0">
              <a:latin typeface="+mj-lt"/>
            </a:endParaRPr>
          </a:p>
        </p:txBody>
      </p:sp>
    </p:spTree>
    <p:extLst>
      <p:ext uri="{BB962C8B-B14F-4D97-AF65-F5344CB8AC3E}">
        <p14:creationId xmlns:p14="http://schemas.microsoft.com/office/powerpoint/2010/main" val="91570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27328169-E0D3-2B67-5F1B-A1EF7E810C45}"/>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157C5493-4A9F-C5EA-51A4-78B5296ACCD0}"/>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New Scale[s]: The Blues Scale</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D485AA65-59B7-8040-EE8A-791679B46AF1}"/>
              </a:ext>
            </a:extLst>
          </p:cNvPr>
          <p:cNvSpPr txBox="1"/>
          <p:nvPr/>
        </p:nvSpPr>
        <p:spPr>
          <a:xfrm>
            <a:off x="162248" y="1310609"/>
            <a:ext cx="5807453" cy="1477328"/>
          </a:xfrm>
          <a:prstGeom prst="rect">
            <a:avLst/>
          </a:prstGeom>
          <a:noFill/>
        </p:spPr>
        <p:txBody>
          <a:bodyPr wrap="square">
            <a:spAutoFit/>
          </a:bodyPr>
          <a:lstStyle/>
          <a:p>
            <a:pPr algn="l"/>
            <a:r>
              <a:rPr lang="en-US" b="0" i="0" dirty="0">
                <a:solidFill>
                  <a:srgbClr val="000000"/>
                </a:solidFill>
                <a:effectLst/>
                <a:latin typeface="+mj-lt"/>
              </a:rPr>
              <a:t>The difference between a major and minor pentatonic scale is identical to the difference between the major and minor blues scale: the </a:t>
            </a:r>
            <a:r>
              <a:rPr lang="en-US" b="1" i="0" dirty="0">
                <a:solidFill>
                  <a:srgbClr val="FF0000"/>
                </a:solidFill>
                <a:effectLst/>
                <a:latin typeface="+mj-lt"/>
              </a:rPr>
              <a:t>major blues scale</a:t>
            </a:r>
            <a:r>
              <a:rPr lang="en-US" b="0" i="0" dirty="0">
                <a:solidFill>
                  <a:srgbClr val="000000"/>
                </a:solidFill>
                <a:effectLst/>
                <a:latin typeface="+mj-lt"/>
              </a:rPr>
              <a:t> is a rotation of the blues scale of its relative minor. Begin the blues scale on </a:t>
            </a:r>
            <a:r>
              <a:rPr lang="en-US" b="0" i="1" dirty="0">
                <a:solidFill>
                  <a:srgbClr val="000000"/>
                </a:solidFill>
                <a:effectLst/>
                <a:latin typeface="+mj-lt"/>
              </a:rPr>
              <a:t>me</a:t>
            </a:r>
            <a:r>
              <a:rPr lang="en-US" b="0" i="0" dirty="0">
                <a:solidFill>
                  <a:srgbClr val="000000"/>
                </a:solidFill>
                <a:effectLst/>
                <a:latin typeface="+mj-lt"/>
              </a:rPr>
              <a:t>, and you will get a blues scale for the relative major.</a:t>
            </a:r>
          </a:p>
        </p:txBody>
      </p:sp>
      <p:pic>
        <p:nvPicPr>
          <p:cNvPr id="9" name="Picture 8">
            <a:extLst>
              <a:ext uri="{FF2B5EF4-FFF2-40B4-BE49-F238E27FC236}">
                <a16:creationId xmlns:a16="http://schemas.microsoft.com/office/drawing/2014/main" id="{910C4304-E31C-8F63-3579-D0F31400A42B}"/>
              </a:ext>
            </a:extLst>
          </p:cNvPr>
          <p:cNvPicPr>
            <a:picLocks noChangeAspect="1"/>
          </p:cNvPicPr>
          <p:nvPr/>
        </p:nvPicPr>
        <p:blipFill>
          <a:blip r:embed="rId3"/>
          <a:srcRect r="55423"/>
          <a:stretch/>
        </p:blipFill>
        <p:spPr>
          <a:xfrm>
            <a:off x="5969702" y="749830"/>
            <a:ext cx="2968353" cy="1838582"/>
          </a:xfrm>
          <a:prstGeom prst="rect">
            <a:avLst/>
          </a:prstGeom>
        </p:spPr>
      </p:pic>
      <p:pic>
        <p:nvPicPr>
          <p:cNvPr id="10" name="Picture 9">
            <a:extLst>
              <a:ext uri="{FF2B5EF4-FFF2-40B4-BE49-F238E27FC236}">
                <a16:creationId xmlns:a16="http://schemas.microsoft.com/office/drawing/2014/main" id="{35497F14-6980-32F1-4224-E607C7B39DB9}"/>
              </a:ext>
            </a:extLst>
          </p:cNvPr>
          <p:cNvPicPr>
            <a:picLocks noChangeAspect="1"/>
          </p:cNvPicPr>
          <p:nvPr/>
        </p:nvPicPr>
        <p:blipFill>
          <a:blip r:embed="rId3"/>
          <a:srcRect l="57240" r="-1817"/>
          <a:stretch/>
        </p:blipFill>
        <p:spPr>
          <a:xfrm>
            <a:off x="9223646" y="749830"/>
            <a:ext cx="2968354" cy="1838582"/>
          </a:xfrm>
          <a:prstGeom prst="rect">
            <a:avLst/>
          </a:prstGeom>
        </p:spPr>
      </p:pic>
      <p:pic>
        <p:nvPicPr>
          <p:cNvPr id="4" name="Picture 3">
            <a:extLst>
              <a:ext uri="{FF2B5EF4-FFF2-40B4-BE49-F238E27FC236}">
                <a16:creationId xmlns:a16="http://schemas.microsoft.com/office/drawing/2014/main" id="{6B05C67A-2B64-9B5D-D07A-A44858401748}"/>
              </a:ext>
            </a:extLst>
          </p:cNvPr>
          <p:cNvPicPr>
            <a:picLocks noChangeAspect="1"/>
          </p:cNvPicPr>
          <p:nvPr/>
        </p:nvPicPr>
        <p:blipFill>
          <a:blip r:embed="rId4"/>
          <a:stretch>
            <a:fillRect/>
          </a:stretch>
        </p:blipFill>
        <p:spPr>
          <a:xfrm>
            <a:off x="1903898" y="3123350"/>
            <a:ext cx="8131607" cy="3083674"/>
          </a:xfrm>
          <a:prstGeom prst="rect">
            <a:avLst/>
          </a:prstGeom>
        </p:spPr>
      </p:pic>
    </p:spTree>
    <p:extLst>
      <p:ext uri="{BB962C8B-B14F-4D97-AF65-F5344CB8AC3E}">
        <p14:creationId xmlns:p14="http://schemas.microsoft.com/office/powerpoint/2010/main" val="2650621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21E8E192-3EE0-5EF6-9DD1-2D781F8CB2E3}"/>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97FC48AF-0D83-DD74-4622-4C7A1EBB2015}"/>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Rhythm: Swing</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6EB2DBDF-D49A-D840-EF4E-0CB8A9AA75C9}"/>
              </a:ext>
            </a:extLst>
          </p:cNvPr>
          <p:cNvSpPr txBox="1"/>
          <p:nvPr/>
        </p:nvSpPr>
        <p:spPr>
          <a:xfrm>
            <a:off x="331100" y="1322966"/>
            <a:ext cx="5807453" cy="2308324"/>
          </a:xfrm>
          <a:prstGeom prst="rect">
            <a:avLst/>
          </a:prstGeom>
          <a:noFill/>
        </p:spPr>
        <p:txBody>
          <a:bodyPr wrap="square">
            <a:spAutoFit/>
          </a:bodyPr>
          <a:lstStyle/>
          <a:p>
            <a:pPr algn="l"/>
            <a:r>
              <a:rPr lang="en-US" b="1" i="0" dirty="0">
                <a:solidFill>
                  <a:srgbClr val="FF0000"/>
                </a:solidFill>
                <a:effectLst/>
                <a:latin typeface="+mj-lt"/>
              </a:rPr>
              <a:t>Swing eighths </a:t>
            </a:r>
            <a:r>
              <a:rPr lang="en-US" b="0" i="0" dirty="0">
                <a:solidFill>
                  <a:srgbClr val="000000"/>
                </a:solidFill>
                <a:effectLst/>
                <a:latin typeface="+mj-lt"/>
              </a:rPr>
              <a:t>are notated as regular </a:t>
            </a:r>
            <a:r>
              <a:rPr lang="en-US" b="1" i="0" dirty="0">
                <a:solidFill>
                  <a:srgbClr val="0070C0"/>
                </a:solidFill>
                <a:effectLst/>
                <a:latin typeface="+mj-lt"/>
              </a:rPr>
              <a:t>straight eighths</a:t>
            </a:r>
            <a:r>
              <a:rPr lang="en-US" b="0" i="0" dirty="0">
                <a:solidFill>
                  <a:srgbClr val="000000"/>
                </a:solidFill>
                <a:effectLst/>
                <a:latin typeface="+mj-lt"/>
              </a:rPr>
              <a:t> but performed unevenly, in a quasi-triplet* rhythm where the first note is twice as long as the second.</a:t>
            </a:r>
          </a:p>
          <a:p>
            <a:pPr algn="l"/>
            <a:endParaRPr lang="en-US" dirty="0">
              <a:solidFill>
                <a:srgbClr val="000000"/>
              </a:solidFill>
              <a:latin typeface="+mj-lt"/>
            </a:endParaRPr>
          </a:p>
          <a:p>
            <a:pPr algn="l"/>
            <a:endParaRPr lang="en-US" b="0" i="0" dirty="0">
              <a:solidFill>
                <a:srgbClr val="000000"/>
              </a:solidFill>
              <a:effectLst/>
              <a:latin typeface="+mj-lt"/>
            </a:endParaRPr>
          </a:p>
          <a:p>
            <a:pPr algn="l"/>
            <a:r>
              <a:rPr lang="en-US" dirty="0">
                <a:solidFill>
                  <a:srgbClr val="000000"/>
                </a:solidFill>
                <a:latin typeface="+mj-lt"/>
              </a:rPr>
              <a:t>WHY not just use triplets? Why use eighths?</a:t>
            </a:r>
          </a:p>
          <a:p>
            <a:pPr algn="l"/>
            <a:endParaRPr lang="en-US" b="0" i="0" dirty="0">
              <a:solidFill>
                <a:srgbClr val="000000"/>
              </a:solidFill>
              <a:effectLst/>
              <a:latin typeface="+mj-lt"/>
            </a:endParaRPr>
          </a:p>
          <a:p>
            <a:pPr algn="l"/>
            <a:r>
              <a:rPr lang="en-US" dirty="0">
                <a:solidFill>
                  <a:srgbClr val="000000"/>
                </a:solidFill>
                <a:latin typeface="+mj-lt"/>
              </a:rPr>
              <a:t>&gt; See </a:t>
            </a:r>
            <a:r>
              <a:rPr lang="en-US" dirty="0">
                <a:hlinkClick r:id="rId3"/>
              </a:rPr>
              <a:t>Notes </a:t>
            </a:r>
            <a:r>
              <a:rPr lang="en-US" dirty="0" err="1">
                <a:hlinkClick r:id="rId3"/>
              </a:rPr>
              <a:t>inégales</a:t>
            </a:r>
            <a:r>
              <a:rPr lang="en-US" dirty="0">
                <a:hlinkClick r:id="rId3"/>
              </a:rPr>
              <a:t> - Wikipedia</a:t>
            </a:r>
            <a:endParaRPr lang="en-US" dirty="0">
              <a:solidFill>
                <a:srgbClr val="000000"/>
              </a:solidFill>
              <a:latin typeface="+mj-lt"/>
            </a:endParaRPr>
          </a:p>
        </p:txBody>
      </p:sp>
      <p:pic>
        <p:nvPicPr>
          <p:cNvPr id="1026" name="Picture 2" descr="notation">
            <a:extLst>
              <a:ext uri="{FF2B5EF4-FFF2-40B4-BE49-F238E27FC236}">
                <a16:creationId xmlns:a16="http://schemas.microsoft.com/office/drawing/2014/main" id="{239DCC90-B510-28FA-5473-9F19AFB191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4327" y="1206784"/>
            <a:ext cx="1933575" cy="971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0AE8473-E92F-FC35-FEEE-0C8CD4F96032}"/>
              </a:ext>
            </a:extLst>
          </p:cNvPr>
          <p:cNvSpPr txBox="1"/>
          <p:nvPr/>
        </p:nvSpPr>
        <p:spPr>
          <a:xfrm>
            <a:off x="5903441" y="4017140"/>
            <a:ext cx="6098058" cy="2585323"/>
          </a:xfrm>
          <a:prstGeom prst="rect">
            <a:avLst/>
          </a:prstGeom>
          <a:noFill/>
        </p:spPr>
        <p:txBody>
          <a:bodyPr wrap="square">
            <a:spAutoFit/>
          </a:bodyPr>
          <a:lstStyle/>
          <a:p>
            <a:r>
              <a:rPr lang="en-US" b="0" i="1" dirty="0">
                <a:solidFill>
                  <a:srgbClr val="373D3F"/>
                </a:solidFill>
                <a:effectLst/>
                <a:latin typeface="FreeSerif"/>
              </a:rPr>
              <a:t>* The exact ratio of swing eighths varies from piece to piece and from performer to performer. </a:t>
            </a:r>
          </a:p>
          <a:p>
            <a:endParaRPr lang="en-US" b="0" i="1" dirty="0">
              <a:solidFill>
                <a:srgbClr val="373D3F"/>
              </a:solidFill>
              <a:effectLst/>
              <a:latin typeface="FreeSerif"/>
            </a:endParaRPr>
          </a:p>
          <a:p>
            <a:r>
              <a:rPr lang="en-US" b="0" i="1" dirty="0">
                <a:solidFill>
                  <a:srgbClr val="373D3F"/>
                </a:solidFill>
                <a:effectLst/>
                <a:latin typeface="FreeSerif"/>
              </a:rPr>
              <a:t>Faster tempos tend to be more straight and slower tempos tend to employ a more dramatic swing. </a:t>
            </a:r>
          </a:p>
          <a:p>
            <a:endParaRPr lang="en-US" i="1" dirty="0">
              <a:solidFill>
                <a:srgbClr val="373D3F"/>
              </a:solidFill>
              <a:latin typeface="FreeSerif"/>
            </a:endParaRPr>
          </a:p>
          <a:p>
            <a:r>
              <a:rPr lang="en-US" b="0" i="1" dirty="0">
                <a:solidFill>
                  <a:srgbClr val="373D3F"/>
                </a:solidFill>
                <a:effectLst/>
                <a:latin typeface="FreeSerif"/>
              </a:rPr>
              <a:t>Compare the swing of “Eternal Triangle” by Dizzy Gillespie and “Duet” by Count Basie—the former has a more even swing rhythm, while the latter has a more uneven swing.</a:t>
            </a:r>
            <a:endParaRPr lang="en-US" i="1" dirty="0"/>
          </a:p>
        </p:txBody>
      </p:sp>
    </p:spTree>
    <p:extLst>
      <p:ext uri="{BB962C8B-B14F-4D97-AF65-F5344CB8AC3E}">
        <p14:creationId xmlns:p14="http://schemas.microsoft.com/office/powerpoint/2010/main" val="1844845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ED985547-854E-91D2-595D-EEB9528724E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C1AC3681-4115-805C-07A4-42232E390DC3}"/>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Rhythm: Swing</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9E2C018B-2665-2E16-E924-4B7BAAC6FC5C}"/>
              </a:ext>
            </a:extLst>
          </p:cNvPr>
          <p:cNvSpPr txBox="1"/>
          <p:nvPr/>
        </p:nvSpPr>
        <p:spPr>
          <a:xfrm>
            <a:off x="331100" y="1322966"/>
            <a:ext cx="5807453" cy="923330"/>
          </a:xfrm>
          <a:prstGeom prst="rect">
            <a:avLst/>
          </a:prstGeom>
          <a:noFill/>
        </p:spPr>
        <p:txBody>
          <a:bodyPr wrap="square">
            <a:spAutoFit/>
          </a:bodyPr>
          <a:lstStyle/>
          <a:p>
            <a:pPr algn="l"/>
            <a:r>
              <a:rPr lang="en-US" b="1" i="0" dirty="0">
                <a:solidFill>
                  <a:srgbClr val="FF0000"/>
                </a:solidFill>
                <a:effectLst/>
                <a:latin typeface="+mj-lt"/>
              </a:rPr>
              <a:t>Swing eighths </a:t>
            </a:r>
            <a:r>
              <a:rPr lang="en-US" b="0" i="0" dirty="0">
                <a:solidFill>
                  <a:srgbClr val="000000"/>
                </a:solidFill>
                <a:effectLst/>
                <a:latin typeface="+mj-lt"/>
              </a:rPr>
              <a:t>are notated as regular </a:t>
            </a:r>
            <a:r>
              <a:rPr lang="en-US" b="1" i="0" dirty="0">
                <a:solidFill>
                  <a:srgbClr val="0070C0"/>
                </a:solidFill>
                <a:effectLst/>
                <a:latin typeface="+mj-lt"/>
              </a:rPr>
              <a:t>straight eighths</a:t>
            </a:r>
            <a:r>
              <a:rPr lang="en-US" b="0" i="0" dirty="0">
                <a:solidFill>
                  <a:srgbClr val="000000"/>
                </a:solidFill>
                <a:effectLst/>
                <a:latin typeface="+mj-lt"/>
              </a:rPr>
              <a:t> but performed unevenly, in a quasi-triplet rhythm where the first note is twice as long as the second.</a:t>
            </a:r>
          </a:p>
        </p:txBody>
      </p:sp>
      <p:pic>
        <p:nvPicPr>
          <p:cNvPr id="1026" name="Picture 2" descr="notation">
            <a:extLst>
              <a:ext uri="{FF2B5EF4-FFF2-40B4-BE49-F238E27FC236}">
                <a16:creationId xmlns:a16="http://schemas.microsoft.com/office/drawing/2014/main" id="{A927538D-8D29-2CC0-0782-4BA29922F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4327" y="1206784"/>
            <a:ext cx="1933575" cy="9715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otation">
            <a:extLst>
              <a:ext uri="{FF2B5EF4-FFF2-40B4-BE49-F238E27FC236}">
                <a16:creationId xmlns:a16="http://schemas.microsoft.com/office/drawing/2014/main" id="{2D722A63-90F2-46F9-0320-70C7289E51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424" y="2927006"/>
            <a:ext cx="28194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otation">
            <a:extLst>
              <a:ext uri="{FF2B5EF4-FFF2-40B4-BE49-F238E27FC236}">
                <a16:creationId xmlns:a16="http://schemas.microsoft.com/office/drawing/2014/main" id="{7E17F253-04BF-7996-5B49-6782EE4572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2341" y="2719387"/>
            <a:ext cx="2857500" cy="1419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3CE5CCD-EEBD-E335-D187-9D3A481B8328}"/>
              </a:ext>
            </a:extLst>
          </p:cNvPr>
          <p:cNvSpPr txBox="1"/>
          <p:nvPr/>
        </p:nvSpPr>
        <p:spPr>
          <a:xfrm>
            <a:off x="7942305" y="2927006"/>
            <a:ext cx="3154062" cy="369332"/>
          </a:xfrm>
          <a:prstGeom prst="rect">
            <a:avLst/>
          </a:prstGeom>
          <a:noFill/>
        </p:spPr>
        <p:txBody>
          <a:bodyPr wrap="square">
            <a:spAutoFit/>
          </a:bodyPr>
          <a:lstStyle/>
          <a:p>
            <a:r>
              <a:rPr lang="en-US" b="0" i="0" dirty="0">
                <a:solidFill>
                  <a:srgbClr val="000000"/>
                </a:solidFill>
                <a:effectLst/>
                <a:latin typeface="+mj-lt"/>
              </a:rPr>
              <a:t>Cole Porter’s “Anything Goes”</a:t>
            </a:r>
            <a:endParaRPr lang="en-US" dirty="0"/>
          </a:p>
        </p:txBody>
      </p:sp>
    </p:spTree>
    <p:extLst>
      <p:ext uri="{BB962C8B-B14F-4D97-AF65-F5344CB8AC3E}">
        <p14:creationId xmlns:p14="http://schemas.microsoft.com/office/powerpoint/2010/main" val="2563807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492628FC-30C2-FC56-80C5-ABC322F0D823}"/>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AAA5AF33-AD94-45BA-2DC0-CC7B0F3ABF9B}"/>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Rhythm: Backbeat &amp; Syncopation</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043D2850-E662-88DB-0649-B370E31588A9}"/>
              </a:ext>
            </a:extLst>
          </p:cNvPr>
          <p:cNvSpPr txBox="1"/>
          <p:nvPr/>
        </p:nvSpPr>
        <p:spPr>
          <a:xfrm>
            <a:off x="331100" y="1322966"/>
            <a:ext cx="5807453" cy="1754326"/>
          </a:xfrm>
          <a:prstGeom prst="rect">
            <a:avLst/>
          </a:prstGeom>
          <a:noFill/>
        </p:spPr>
        <p:txBody>
          <a:bodyPr wrap="square">
            <a:spAutoFit/>
          </a:bodyPr>
          <a:lstStyle/>
          <a:p>
            <a:pPr algn="l"/>
            <a:r>
              <a:rPr lang="en-US" i="0" dirty="0">
                <a:effectLst/>
                <a:latin typeface="+mj-lt"/>
              </a:rPr>
              <a:t>Jazz will also feature a </a:t>
            </a:r>
            <a:r>
              <a:rPr lang="en-US" b="1" dirty="0">
                <a:solidFill>
                  <a:srgbClr val="FF0000"/>
                </a:solidFill>
                <a:latin typeface="+mj-lt"/>
              </a:rPr>
              <a:t>backbeat</a:t>
            </a:r>
            <a:r>
              <a:rPr lang="en-US" dirty="0">
                <a:latin typeface="+mj-lt"/>
              </a:rPr>
              <a:t>.</a:t>
            </a:r>
          </a:p>
          <a:p>
            <a:pPr marL="285750" indent="-285750" algn="l">
              <a:buFont typeface="Arial" panose="020B0604020202020204" pitchFamily="34" charset="0"/>
              <a:buChar char="•"/>
            </a:pPr>
            <a:r>
              <a:rPr lang="en-US" dirty="0">
                <a:latin typeface="+mj-lt"/>
              </a:rPr>
              <a:t>An accent on beats 2 &amp; 4</a:t>
            </a:r>
          </a:p>
          <a:p>
            <a:pPr marL="285750" indent="-285750" algn="l">
              <a:buFont typeface="Arial" panose="020B0604020202020204" pitchFamily="34" charset="0"/>
              <a:buChar char="•"/>
            </a:pPr>
            <a:endParaRPr lang="en-US" dirty="0">
              <a:latin typeface="+mj-lt"/>
            </a:endParaRPr>
          </a:p>
          <a:p>
            <a:pPr algn="l"/>
            <a:endParaRPr lang="en-US" dirty="0">
              <a:latin typeface="+mj-lt"/>
            </a:endParaRPr>
          </a:p>
          <a:p>
            <a:pPr algn="l"/>
            <a:endParaRPr lang="en-US" dirty="0">
              <a:latin typeface="+mj-lt"/>
            </a:endParaRPr>
          </a:p>
          <a:p>
            <a:pPr algn="l"/>
            <a:r>
              <a:rPr lang="en-US" dirty="0">
                <a:latin typeface="+mj-lt"/>
              </a:rPr>
              <a:t>…and </a:t>
            </a:r>
            <a:r>
              <a:rPr lang="en-US" b="1" dirty="0">
                <a:solidFill>
                  <a:srgbClr val="FF0000"/>
                </a:solidFill>
                <a:latin typeface="+mj-lt"/>
              </a:rPr>
              <a:t>syncopation</a:t>
            </a:r>
            <a:r>
              <a:rPr lang="en-US" dirty="0">
                <a:latin typeface="+mj-lt"/>
              </a:rPr>
              <a:t>.</a:t>
            </a:r>
          </a:p>
        </p:txBody>
      </p:sp>
      <p:pic>
        <p:nvPicPr>
          <p:cNvPr id="4" name="Picture 3">
            <a:extLst>
              <a:ext uri="{FF2B5EF4-FFF2-40B4-BE49-F238E27FC236}">
                <a16:creationId xmlns:a16="http://schemas.microsoft.com/office/drawing/2014/main" id="{B3CF40D4-F49C-937B-663A-586DB4C207A6}"/>
              </a:ext>
            </a:extLst>
          </p:cNvPr>
          <p:cNvPicPr>
            <a:picLocks noChangeAspect="1"/>
          </p:cNvPicPr>
          <p:nvPr/>
        </p:nvPicPr>
        <p:blipFill>
          <a:blip r:embed="rId3"/>
          <a:stretch>
            <a:fillRect/>
          </a:stretch>
        </p:blipFill>
        <p:spPr>
          <a:xfrm>
            <a:off x="5121844" y="1255551"/>
            <a:ext cx="2724530" cy="781159"/>
          </a:xfrm>
          <a:prstGeom prst="rect">
            <a:avLst/>
          </a:prstGeom>
        </p:spPr>
      </p:pic>
      <p:pic>
        <p:nvPicPr>
          <p:cNvPr id="6" name="Picture 5">
            <a:extLst>
              <a:ext uri="{FF2B5EF4-FFF2-40B4-BE49-F238E27FC236}">
                <a16:creationId xmlns:a16="http://schemas.microsoft.com/office/drawing/2014/main" id="{D2522582-4ACD-0C08-7DDC-6DD8C5D1AAB4}"/>
              </a:ext>
            </a:extLst>
          </p:cNvPr>
          <p:cNvPicPr>
            <a:picLocks noChangeAspect="1"/>
          </p:cNvPicPr>
          <p:nvPr/>
        </p:nvPicPr>
        <p:blipFill>
          <a:blip r:embed="rId4"/>
          <a:stretch>
            <a:fillRect/>
          </a:stretch>
        </p:blipFill>
        <p:spPr>
          <a:xfrm>
            <a:off x="1616155" y="4033325"/>
            <a:ext cx="6230219" cy="1257475"/>
          </a:xfrm>
          <a:prstGeom prst="rect">
            <a:avLst/>
          </a:prstGeom>
        </p:spPr>
      </p:pic>
    </p:spTree>
    <p:extLst>
      <p:ext uri="{BB962C8B-B14F-4D97-AF65-F5344CB8AC3E}">
        <p14:creationId xmlns:p14="http://schemas.microsoft.com/office/powerpoint/2010/main" val="2358334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A363639A-D855-A86A-F7CE-D5C7A915A799}"/>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3DE7FC97-E5AC-376F-17C2-73CC030C51CD}"/>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3074" name="Picture 2" descr="annotations on a chord symbol Cm(add#11)/E♭">
            <a:extLst>
              <a:ext uri="{FF2B5EF4-FFF2-40B4-BE49-F238E27FC236}">
                <a16:creationId xmlns:a16="http://schemas.microsoft.com/office/drawing/2014/main" id="{038431F3-CE87-C61C-AF75-3A3D952D1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100" y="1655763"/>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327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79415A0F-10B1-24D1-1112-C0CFA5673ADE}"/>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0F219DD5-0CE7-A1C3-50D7-D07671EE47B0}"/>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41EA212C-DED4-AEEC-33C3-7BCF91965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43D5F1E-597D-C4F2-6380-EC08453CC4EE}"/>
              </a:ext>
            </a:extLst>
          </p:cNvPr>
          <p:cNvPicPr>
            <a:picLocks noChangeAspect="1"/>
          </p:cNvPicPr>
          <p:nvPr/>
        </p:nvPicPr>
        <p:blipFill>
          <a:blip r:embed="rId4"/>
          <a:stretch>
            <a:fillRect/>
          </a:stretch>
        </p:blipFill>
        <p:spPr>
          <a:xfrm>
            <a:off x="570438" y="3312886"/>
            <a:ext cx="4567862" cy="1636486"/>
          </a:xfrm>
          <a:prstGeom prst="rect">
            <a:avLst/>
          </a:prstGeom>
        </p:spPr>
      </p:pic>
      <p:pic>
        <p:nvPicPr>
          <p:cNvPr id="8" name="Picture 7">
            <a:extLst>
              <a:ext uri="{FF2B5EF4-FFF2-40B4-BE49-F238E27FC236}">
                <a16:creationId xmlns:a16="http://schemas.microsoft.com/office/drawing/2014/main" id="{B86CD942-347D-80A3-9D5D-24ED8ED6EAC9}"/>
              </a:ext>
            </a:extLst>
          </p:cNvPr>
          <p:cNvPicPr>
            <a:picLocks noChangeAspect="1"/>
          </p:cNvPicPr>
          <p:nvPr/>
        </p:nvPicPr>
        <p:blipFill>
          <a:blip r:embed="rId5"/>
          <a:stretch>
            <a:fillRect/>
          </a:stretch>
        </p:blipFill>
        <p:spPr>
          <a:xfrm>
            <a:off x="5476727" y="3207065"/>
            <a:ext cx="6461586" cy="1858421"/>
          </a:xfrm>
          <a:prstGeom prst="rect">
            <a:avLst/>
          </a:prstGeom>
        </p:spPr>
      </p:pic>
    </p:spTree>
    <p:extLst>
      <p:ext uri="{BB962C8B-B14F-4D97-AF65-F5344CB8AC3E}">
        <p14:creationId xmlns:p14="http://schemas.microsoft.com/office/powerpoint/2010/main" val="144597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BD401668-CFFC-CF54-FE50-7F5ACEC737DB}"/>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C285D9D7-5A2D-2E2B-5231-C21790FE0E51}"/>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BD01E165-606B-4373-16E3-345AF36D2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E8141E-0CA7-D2A5-7EA8-C335A44E4EBD}"/>
              </a:ext>
            </a:extLst>
          </p:cNvPr>
          <p:cNvSpPr txBox="1"/>
          <p:nvPr/>
        </p:nvSpPr>
        <p:spPr>
          <a:xfrm>
            <a:off x="464457" y="1568190"/>
            <a:ext cx="4325257" cy="5632311"/>
          </a:xfrm>
          <a:prstGeom prst="rect">
            <a:avLst/>
          </a:prstGeom>
          <a:noFill/>
        </p:spPr>
        <p:txBody>
          <a:bodyPr wrap="square" rtlCol="0">
            <a:spAutoFit/>
          </a:bodyPr>
          <a:lstStyle/>
          <a:p>
            <a:r>
              <a:rPr lang="en-US" b="1" dirty="0">
                <a:solidFill>
                  <a:schemeClr val="accent2"/>
                </a:solidFill>
              </a:rPr>
              <a:t>Extensions</a:t>
            </a:r>
            <a:r>
              <a:rPr lang="en-US" dirty="0"/>
              <a:t>: “Adding additional thirds on top of the triad. Most commonly refers to ninths, elevenths, or thirteenths rather than sevenths, although sevenths are also extensions.”</a:t>
            </a:r>
          </a:p>
          <a:p>
            <a:endParaRPr lang="en-US" dirty="0"/>
          </a:p>
          <a:p>
            <a:r>
              <a:rPr lang="en-US" b="1" dirty="0">
                <a:solidFill>
                  <a:schemeClr val="accent5"/>
                </a:solidFill>
              </a:rPr>
              <a:t>Quality &amp; Alterations</a:t>
            </a:r>
            <a:r>
              <a:rPr lang="en-US" dirty="0"/>
              <a:t>: Assume default intervals for extensions:</a:t>
            </a:r>
          </a:p>
          <a:p>
            <a:endParaRPr lang="en-US" dirty="0"/>
          </a:p>
          <a:p>
            <a:endParaRPr lang="en-US" dirty="0"/>
          </a:p>
          <a:p>
            <a:r>
              <a:rPr lang="en-US" dirty="0"/>
              <a:t>Will use # and b to raise or lower regardless of actual accidentals.</a:t>
            </a:r>
          </a:p>
          <a:p>
            <a:endParaRPr lang="en-US" dirty="0"/>
          </a:p>
          <a:p>
            <a:r>
              <a:rPr lang="en-US" b="1" dirty="0">
                <a:solidFill>
                  <a:schemeClr val="accent2"/>
                </a:solidFill>
              </a:rPr>
              <a:t>Added Note &amp; Suspensions</a:t>
            </a:r>
            <a:r>
              <a:rPr lang="en-US" dirty="0"/>
              <a:t>: If no seventh or extensions are implied but notes beyond the triad are present. (</a:t>
            </a:r>
            <a:r>
              <a:rPr lang="en-US" i="1" dirty="0"/>
              <a:t>add 6, add 9</a:t>
            </a:r>
            <a:r>
              <a:rPr lang="en-US" dirty="0"/>
              <a:t>)</a:t>
            </a:r>
          </a:p>
          <a:p>
            <a:r>
              <a:rPr lang="en-US" dirty="0"/>
              <a:t>Sus 2, sus 4 are common. Assume sus 4 if all you see is “sus”.</a:t>
            </a:r>
          </a:p>
          <a:p>
            <a:endParaRPr lang="en-US" dirty="0"/>
          </a:p>
          <a:p>
            <a:endParaRPr lang="en-US" dirty="0"/>
          </a:p>
        </p:txBody>
      </p:sp>
      <p:graphicFrame>
        <p:nvGraphicFramePr>
          <p:cNvPr id="7" name="Table 6">
            <a:extLst>
              <a:ext uri="{FF2B5EF4-FFF2-40B4-BE49-F238E27FC236}">
                <a16:creationId xmlns:a16="http://schemas.microsoft.com/office/drawing/2014/main" id="{A9E2496A-5BF2-4E97-43DC-16F96CB83E52}"/>
              </a:ext>
            </a:extLst>
          </p:cNvPr>
          <p:cNvGraphicFramePr>
            <a:graphicFrameLocks noGrp="1"/>
          </p:cNvGraphicFramePr>
          <p:nvPr/>
        </p:nvGraphicFramePr>
        <p:xfrm>
          <a:off x="595087" y="3840237"/>
          <a:ext cx="2656116"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699297581"/>
                    </a:ext>
                  </a:extLst>
                </a:gridCol>
                <a:gridCol w="664029">
                  <a:extLst>
                    <a:ext uri="{9D8B030D-6E8A-4147-A177-3AD203B41FA5}">
                      <a16:colId xmlns:a16="http://schemas.microsoft.com/office/drawing/2014/main" val="3245603432"/>
                    </a:ext>
                  </a:extLst>
                </a:gridCol>
                <a:gridCol w="664029">
                  <a:extLst>
                    <a:ext uri="{9D8B030D-6E8A-4147-A177-3AD203B41FA5}">
                      <a16:colId xmlns:a16="http://schemas.microsoft.com/office/drawing/2014/main" val="3868869410"/>
                    </a:ext>
                  </a:extLst>
                </a:gridCol>
                <a:gridCol w="664029">
                  <a:extLst>
                    <a:ext uri="{9D8B030D-6E8A-4147-A177-3AD203B41FA5}">
                      <a16:colId xmlns:a16="http://schemas.microsoft.com/office/drawing/2014/main" val="1390845326"/>
                    </a:ext>
                  </a:extLst>
                </a:gridCol>
              </a:tblGrid>
              <a:tr h="370840">
                <a:tc>
                  <a:txBody>
                    <a:bodyPr/>
                    <a:lstStyle/>
                    <a:p>
                      <a:r>
                        <a:rPr lang="en-US" dirty="0"/>
                        <a:t>m7</a:t>
                      </a:r>
                    </a:p>
                  </a:txBody>
                  <a:tcPr/>
                </a:tc>
                <a:tc>
                  <a:txBody>
                    <a:bodyPr/>
                    <a:lstStyle/>
                    <a:p>
                      <a:r>
                        <a:rPr lang="en-US" dirty="0"/>
                        <a:t>M9</a:t>
                      </a:r>
                    </a:p>
                  </a:txBody>
                  <a:tcPr/>
                </a:tc>
                <a:tc>
                  <a:txBody>
                    <a:bodyPr/>
                    <a:lstStyle/>
                    <a:p>
                      <a:r>
                        <a:rPr lang="en-US" dirty="0"/>
                        <a:t>P11</a:t>
                      </a:r>
                    </a:p>
                  </a:txBody>
                  <a:tcPr/>
                </a:tc>
                <a:tc>
                  <a:txBody>
                    <a:bodyPr/>
                    <a:lstStyle/>
                    <a:p>
                      <a:r>
                        <a:rPr lang="en-US" dirty="0"/>
                        <a:t>M13</a:t>
                      </a:r>
                    </a:p>
                  </a:txBody>
                  <a:tcPr/>
                </a:tc>
                <a:extLst>
                  <a:ext uri="{0D108BD9-81ED-4DB2-BD59-A6C34878D82A}">
                    <a16:rowId xmlns:a16="http://schemas.microsoft.com/office/drawing/2014/main" val="4119527521"/>
                  </a:ext>
                </a:extLst>
              </a:tr>
            </a:tbl>
          </a:graphicData>
        </a:graphic>
      </p:graphicFrame>
    </p:spTree>
    <p:extLst>
      <p:ext uri="{BB962C8B-B14F-4D97-AF65-F5344CB8AC3E}">
        <p14:creationId xmlns:p14="http://schemas.microsoft.com/office/powerpoint/2010/main" val="4182187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1A840574-A665-7A2E-05BF-2FC5ABC527A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C809C3F5-DB9B-3F67-7EE6-2F99D03944D2}"/>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3" name="Picture 2">
            <a:extLst>
              <a:ext uri="{FF2B5EF4-FFF2-40B4-BE49-F238E27FC236}">
                <a16:creationId xmlns:a16="http://schemas.microsoft.com/office/drawing/2014/main" id="{5468A7DA-7B63-D03D-B52C-516086219C21}"/>
              </a:ext>
            </a:extLst>
          </p:cNvPr>
          <p:cNvPicPr>
            <a:picLocks noChangeAspect="1"/>
          </p:cNvPicPr>
          <p:nvPr/>
        </p:nvPicPr>
        <p:blipFill>
          <a:blip r:embed="rId3"/>
          <a:stretch>
            <a:fillRect/>
          </a:stretch>
        </p:blipFill>
        <p:spPr>
          <a:xfrm>
            <a:off x="499640" y="1702769"/>
            <a:ext cx="6031787" cy="3771776"/>
          </a:xfrm>
          <a:prstGeom prst="rect">
            <a:avLst/>
          </a:prstGeom>
        </p:spPr>
      </p:pic>
      <p:pic>
        <p:nvPicPr>
          <p:cNvPr id="5" name="Picture 4">
            <a:extLst>
              <a:ext uri="{FF2B5EF4-FFF2-40B4-BE49-F238E27FC236}">
                <a16:creationId xmlns:a16="http://schemas.microsoft.com/office/drawing/2014/main" id="{8A625A0D-CA68-49E9-59C0-E81D58904F99}"/>
              </a:ext>
            </a:extLst>
          </p:cNvPr>
          <p:cNvPicPr>
            <a:picLocks noChangeAspect="1"/>
          </p:cNvPicPr>
          <p:nvPr/>
        </p:nvPicPr>
        <p:blipFill>
          <a:blip r:embed="rId4"/>
          <a:stretch>
            <a:fillRect/>
          </a:stretch>
        </p:blipFill>
        <p:spPr>
          <a:xfrm>
            <a:off x="6820048" y="3070859"/>
            <a:ext cx="4792254" cy="2403686"/>
          </a:xfrm>
          <a:prstGeom prst="rect">
            <a:avLst/>
          </a:prstGeom>
        </p:spPr>
      </p:pic>
      <p:pic>
        <p:nvPicPr>
          <p:cNvPr id="6" name="Picture 2" descr="annotations on a chord symbol Cm(add#11)/E♭">
            <a:extLst>
              <a:ext uri="{FF2B5EF4-FFF2-40B4-BE49-F238E27FC236}">
                <a16:creationId xmlns:a16="http://schemas.microsoft.com/office/drawing/2014/main" id="{828A2588-F332-4B92-0F0D-1B2416383F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13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323A-56A9-25EA-EA08-49B0988DC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0EAC4-8F82-BF57-1AA2-08BD48578FC4}"/>
              </a:ext>
            </a:extLst>
          </p:cNvPr>
          <p:cNvSpPr>
            <a:spLocks noGrp="1"/>
          </p:cNvSpPr>
          <p:nvPr>
            <p:ph type="title"/>
          </p:nvPr>
        </p:nvSpPr>
        <p:spPr/>
        <p:txBody>
          <a:bodyPr>
            <a:normAutofit/>
          </a:bodyPr>
          <a:lstStyle/>
          <a:p>
            <a:r>
              <a:rPr lang="en-US" sz="3600" b="1" dirty="0"/>
              <a:t>MUS 223 • Literature and Materials of Music II</a:t>
            </a:r>
            <a:endParaRPr lang="en-US" sz="3800" b="1" dirty="0"/>
          </a:p>
        </p:txBody>
      </p:sp>
      <p:sp>
        <p:nvSpPr>
          <p:cNvPr id="3" name="Content Placeholder 2">
            <a:extLst>
              <a:ext uri="{FF2B5EF4-FFF2-40B4-BE49-F238E27FC236}">
                <a16:creationId xmlns:a16="http://schemas.microsoft.com/office/drawing/2014/main" id="{55B142EB-A716-B826-27A6-60E5EB889FE2}"/>
              </a:ext>
            </a:extLst>
          </p:cNvPr>
          <p:cNvSpPr>
            <a:spLocks noGrp="1"/>
          </p:cNvSpPr>
          <p:nvPr>
            <p:ph idx="1"/>
          </p:nvPr>
        </p:nvSpPr>
        <p:spPr>
          <a:xfrm>
            <a:off x="838199" y="2087330"/>
            <a:ext cx="10804071" cy="3113316"/>
          </a:xfrm>
        </p:spPr>
        <p:txBody>
          <a:bodyPr>
            <a:normAutofit/>
          </a:bodyPr>
          <a:lstStyle/>
          <a:p>
            <a:pPr marL="0" indent="0">
              <a:buNone/>
            </a:pPr>
            <a:r>
              <a:rPr lang="en-US" sz="2400" b="1" dirty="0">
                <a:latin typeface="+mj-lt"/>
              </a:rPr>
              <a:t>Today (Wednesday, May 6, 2026): Jazz Basics</a:t>
            </a:r>
          </a:p>
          <a:p>
            <a:pPr marL="1371600" indent="-457200">
              <a:buFont typeface="+mj-lt"/>
              <a:buAutoNum type="arabicPeriod"/>
            </a:pPr>
            <a:r>
              <a:rPr lang="en-US" sz="2400" dirty="0">
                <a:latin typeface="+mj-lt"/>
              </a:rPr>
              <a:t>Warm-up</a:t>
            </a:r>
            <a:endParaRPr lang="en-US" sz="2000" dirty="0">
              <a:latin typeface="+mj-lt"/>
            </a:endParaRPr>
          </a:p>
          <a:p>
            <a:pPr marL="1371600" indent="-457200">
              <a:buFont typeface="+mj-lt"/>
              <a:buAutoNum type="arabicPeriod"/>
            </a:pPr>
            <a:r>
              <a:rPr lang="en-US" sz="2400" dirty="0">
                <a:latin typeface="+mj-lt"/>
              </a:rPr>
              <a:t>Harmony </a:t>
            </a:r>
          </a:p>
          <a:p>
            <a:pPr marL="1828800" lvl="1" indent="-457200"/>
            <a:r>
              <a:rPr lang="en-US" sz="2000" dirty="0">
                <a:latin typeface="+mj-lt"/>
              </a:rPr>
              <a:t>Extensions</a:t>
            </a:r>
          </a:p>
          <a:p>
            <a:pPr marL="1828800" lvl="1" indent="-457200"/>
            <a:r>
              <a:rPr lang="en-US" sz="2000" dirty="0">
                <a:latin typeface="+mj-lt"/>
              </a:rPr>
              <a:t>Chord Symbols</a:t>
            </a:r>
          </a:p>
          <a:p>
            <a:pPr marL="1828800" lvl="1" indent="-457200"/>
            <a:r>
              <a:rPr lang="en-US" sz="2000" dirty="0">
                <a:latin typeface="+mj-lt"/>
              </a:rPr>
              <a:t>Voicing </a:t>
            </a:r>
          </a:p>
        </p:txBody>
      </p:sp>
      <p:sp>
        <p:nvSpPr>
          <p:cNvPr id="4" name="TextBox 3">
            <a:extLst>
              <a:ext uri="{FF2B5EF4-FFF2-40B4-BE49-F238E27FC236}">
                <a16:creationId xmlns:a16="http://schemas.microsoft.com/office/drawing/2014/main" id="{C4D02559-19D2-3625-81D8-09C2A1FBFDDA}"/>
              </a:ext>
            </a:extLst>
          </p:cNvPr>
          <p:cNvSpPr txBox="1"/>
          <p:nvPr/>
        </p:nvSpPr>
        <p:spPr>
          <a:xfrm>
            <a:off x="838200" y="1428750"/>
            <a:ext cx="10804070" cy="461665"/>
          </a:xfrm>
          <a:prstGeom prst="rect">
            <a:avLst/>
          </a:prstGeom>
          <a:noFill/>
        </p:spPr>
        <p:txBody>
          <a:bodyPr wrap="square" rtlCol="0">
            <a:spAutoFit/>
          </a:bodyPr>
          <a:lstStyle/>
          <a:p>
            <a:pPr algn="r"/>
            <a:r>
              <a:rPr lang="en-US" sz="2400" dirty="0"/>
              <a:t>Now playing: “Livery Stable Blues,” Original Dixieland Jass Band (1917)</a:t>
            </a:r>
          </a:p>
        </p:txBody>
      </p:sp>
      <p:cxnSp>
        <p:nvCxnSpPr>
          <p:cNvPr id="13" name="Straight Connector 12">
            <a:extLst>
              <a:ext uri="{FF2B5EF4-FFF2-40B4-BE49-F238E27FC236}">
                <a16:creationId xmlns:a16="http://schemas.microsoft.com/office/drawing/2014/main" id="{CB7BB025-F898-5825-2B84-DE91134147BA}"/>
              </a:ext>
            </a:extLst>
          </p:cNvPr>
          <p:cNvCxnSpPr/>
          <p:nvPr/>
        </p:nvCxnSpPr>
        <p:spPr>
          <a:xfrm>
            <a:off x="912019" y="5275262"/>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7A3BEAA-C12F-85D7-9610-F486E859F5F9}"/>
              </a:ext>
            </a:extLst>
          </p:cNvPr>
          <p:cNvCxnSpPr/>
          <p:nvPr/>
        </p:nvCxnSpPr>
        <p:spPr>
          <a:xfrm>
            <a:off x="912019" y="1943094"/>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158073A-DF8C-F276-3CE6-A44ACCBAB5C4}"/>
              </a:ext>
            </a:extLst>
          </p:cNvPr>
          <p:cNvSpPr txBox="1"/>
          <p:nvPr/>
        </p:nvSpPr>
        <p:spPr>
          <a:xfrm>
            <a:off x="838200" y="5200646"/>
            <a:ext cx="10515600" cy="830997"/>
          </a:xfrm>
          <a:prstGeom prst="rect">
            <a:avLst/>
          </a:prstGeom>
          <a:noFill/>
        </p:spPr>
        <p:txBody>
          <a:bodyPr wrap="square" rtlCol="0">
            <a:spAutoFit/>
          </a:bodyPr>
          <a:lstStyle/>
          <a:p>
            <a:r>
              <a:rPr lang="en-US" sz="2400" i="1" dirty="0">
                <a:latin typeface="Calibri Light" panose="020F0302020204030204" pitchFamily="34" charset="0"/>
                <a:ea typeface="Calibri Light" panose="020F0302020204030204" pitchFamily="34" charset="0"/>
                <a:cs typeface="Calibri Light" panose="020F0302020204030204" pitchFamily="34" charset="0"/>
              </a:rPr>
              <a:t>To do for next time:</a:t>
            </a:r>
          </a:p>
          <a:p>
            <a:pPr marL="914400" lvl="1" indent="-4572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Homework #5 is due next </a:t>
            </a:r>
            <a:r>
              <a:rPr lang="en-US" sz="2400" b="1" spc="300" dirty="0">
                <a:solidFill>
                  <a:srgbClr val="0070C0"/>
                </a:solidFill>
                <a:ea typeface="Calibri Light" panose="020F0302020204030204" pitchFamily="34" charset="0"/>
                <a:cs typeface="Calibri Light" panose="020F0302020204030204" pitchFamily="34" charset="0"/>
              </a:rPr>
              <a:t>Monday</a:t>
            </a:r>
            <a:r>
              <a:rPr lang="en-US" sz="24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292887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3A314453-C57D-06E8-18C4-1B086475CC18}"/>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D0487825-7F9F-C6A7-4D28-997A28DB3A94}"/>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Warm-up</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A2A58B06-D3F8-B35E-F546-BFE9A86E7C97}"/>
              </a:ext>
            </a:extLst>
          </p:cNvPr>
          <p:cNvSpPr txBox="1"/>
          <p:nvPr/>
        </p:nvSpPr>
        <p:spPr>
          <a:xfrm>
            <a:off x="162248" y="1310609"/>
            <a:ext cx="5807453" cy="923330"/>
          </a:xfrm>
          <a:prstGeom prst="rect">
            <a:avLst/>
          </a:prstGeom>
          <a:noFill/>
        </p:spPr>
        <p:txBody>
          <a:bodyPr wrap="square">
            <a:spAutoFit/>
          </a:bodyPr>
          <a:lstStyle/>
          <a:p>
            <a:pPr algn="l"/>
            <a:r>
              <a:rPr lang="en-US" b="0" i="0" dirty="0">
                <a:solidFill>
                  <a:srgbClr val="000000"/>
                </a:solidFill>
                <a:effectLst/>
                <a:latin typeface="+mj-lt"/>
              </a:rPr>
              <a:t>Write a B minor pentatonic scale.</a:t>
            </a:r>
          </a:p>
          <a:p>
            <a:pPr algn="l"/>
            <a:r>
              <a:rPr lang="en-US" dirty="0">
                <a:solidFill>
                  <a:srgbClr val="000000"/>
                </a:solidFill>
                <a:latin typeface="+mj-lt"/>
              </a:rPr>
              <a:t>Write a B [minor] blues scale.</a:t>
            </a:r>
          </a:p>
          <a:p>
            <a:pPr algn="l"/>
            <a:r>
              <a:rPr lang="en-US" b="0" i="0" dirty="0">
                <a:solidFill>
                  <a:srgbClr val="000000"/>
                </a:solidFill>
                <a:effectLst/>
                <a:latin typeface="+mj-lt"/>
              </a:rPr>
              <a:t>Write a </a:t>
            </a:r>
            <a:r>
              <a:rPr lang="en-US" dirty="0">
                <a:solidFill>
                  <a:srgbClr val="000000"/>
                </a:solidFill>
                <a:latin typeface="+mj-lt"/>
              </a:rPr>
              <a:t>D major blues scale.</a:t>
            </a:r>
            <a:endParaRPr lang="en-US" b="0" i="0" dirty="0">
              <a:solidFill>
                <a:srgbClr val="000000"/>
              </a:solidFill>
              <a:effectLst/>
              <a:latin typeface="+mj-lt"/>
            </a:endParaRPr>
          </a:p>
        </p:txBody>
      </p:sp>
    </p:spTree>
    <p:extLst>
      <p:ext uri="{BB962C8B-B14F-4D97-AF65-F5344CB8AC3E}">
        <p14:creationId xmlns:p14="http://schemas.microsoft.com/office/powerpoint/2010/main" val="3969416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76E4A395-F311-43D0-82CB-2380D8DA0773}"/>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637EC899-3F8F-103E-1038-2F2047EF5770}"/>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Warm-up</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E595D5A9-F48C-0EBF-D0B6-2DDB6C8313F0}"/>
              </a:ext>
            </a:extLst>
          </p:cNvPr>
          <p:cNvSpPr txBox="1"/>
          <p:nvPr/>
        </p:nvSpPr>
        <p:spPr>
          <a:xfrm>
            <a:off x="162248" y="1310609"/>
            <a:ext cx="5807453" cy="923330"/>
          </a:xfrm>
          <a:prstGeom prst="rect">
            <a:avLst/>
          </a:prstGeom>
          <a:noFill/>
        </p:spPr>
        <p:txBody>
          <a:bodyPr wrap="square">
            <a:spAutoFit/>
          </a:bodyPr>
          <a:lstStyle/>
          <a:p>
            <a:pPr algn="l"/>
            <a:r>
              <a:rPr lang="en-US" b="0" i="0" dirty="0">
                <a:solidFill>
                  <a:srgbClr val="000000"/>
                </a:solidFill>
                <a:effectLst/>
                <a:latin typeface="+mj-lt"/>
              </a:rPr>
              <a:t>Write a B minor pentatonic scale.</a:t>
            </a:r>
          </a:p>
          <a:p>
            <a:pPr algn="l"/>
            <a:r>
              <a:rPr lang="en-US" dirty="0">
                <a:solidFill>
                  <a:srgbClr val="000000"/>
                </a:solidFill>
                <a:latin typeface="+mj-lt"/>
              </a:rPr>
              <a:t>Write a B [minor] blues scale.</a:t>
            </a:r>
          </a:p>
          <a:p>
            <a:pPr algn="l"/>
            <a:r>
              <a:rPr lang="en-US" b="0" i="0" dirty="0">
                <a:solidFill>
                  <a:srgbClr val="000000"/>
                </a:solidFill>
                <a:effectLst/>
                <a:latin typeface="+mj-lt"/>
              </a:rPr>
              <a:t>Write a </a:t>
            </a:r>
            <a:r>
              <a:rPr lang="en-US" dirty="0">
                <a:solidFill>
                  <a:srgbClr val="000000"/>
                </a:solidFill>
                <a:latin typeface="+mj-lt"/>
              </a:rPr>
              <a:t>D major blues scale.</a:t>
            </a:r>
            <a:endParaRPr lang="en-US" b="0" i="0" dirty="0">
              <a:solidFill>
                <a:srgbClr val="000000"/>
              </a:solidFill>
              <a:effectLst/>
              <a:latin typeface="+mj-lt"/>
            </a:endParaRPr>
          </a:p>
        </p:txBody>
      </p:sp>
      <p:pic>
        <p:nvPicPr>
          <p:cNvPr id="9" name="Picture 8">
            <a:extLst>
              <a:ext uri="{FF2B5EF4-FFF2-40B4-BE49-F238E27FC236}">
                <a16:creationId xmlns:a16="http://schemas.microsoft.com/office/drawing/2014/main" id="{DF5F3F7E-65E9-C00F-8D6D-6895D733A7A1}"/>
              </a:ext>
            </a:extLst>
          </p:cNvPr>
          <p:cNvPicPr>
            <a:picLocks noChangeAspect="1"/>
          </p:cNvPicPr>
          <p:nvPr/>
        </p:nvPicPr>
        <p:blipFill>
          <a:blip r:embed="rId3"/>
          <a:srcRect r="55423"/>
          <a:stretch/>
        </p:blipFill>
        <p:spPr>
          <a:xfrm>
            <a:off x="5969702" y="749830"/>
            <a:ext cx="2968353" cy="1838582"/>
          </a:xfrm>
          <a:prstGeom prst="rect">
            <a:avLst/>
          </a:prstGeom>
        </p:spPr>
      </p:pic>
      <p:pic>
        <p:nvPicPr>
          <p:cNvPr id="10" name="Picture 9">
            <a:extLst>
              <a:ext uri="{FF2B5EF4-FFF2-40B4-BE49-F238E27FC236}">
                <a16:creationId xmlns:a16="http://schemas.microsoft.com/office/drawing/2014/main" id="{9F37F888-CE7E-8EB8-60AD-8D13A57498B3}"/>
              </a:ext>
            </a:extLst>
          </p:cNvPr>
          <p:cNvPicPr>
            <a:picLocks noChangeAspect="1"/>
          </p:cNvPicPr>
          <p:nvPr/>
        </p:nvPicPr>
        <p:blipFill>
          <a:blip r:embed="rId3"/>
          <a:srcRect l="57240" r="-1817"/>
          <a:stretch/>
        </p:blipFill>
        <p:spPr>
          <a:xfrm>
            <a:off x="9223646" y="749830"/>
            <a:ext cx="2968354" cy="1838582"/>
          </a:xfrm>
          <a:prstGeom prst="rect">
            <a:avLst/>
          </a:prstGeom>
        </p:spPr>
      </p:pic>
      <p:pic>
        <p:nvPicPr>
          <p:cNvPr id="4" name="Picture 3">
            <a:extLst>
              <a:ext uri="{FF2B5EF4-FFF2-40B4-BE49-F238E27FC236}">
                <a16:creationId xmlns:a16="http://schemas.microsoft.com/office/drawing/2014/main" id="{B448A5A4-2270-5EFB-8E2A-942F4C69432A}"/>
              </a:ext>
            </a:extLst>
          </p:cNvPr>
          <p:cNvPicPr>
            <a:picLocks noChangeAspect="1"/>
          </p:cNvPicPr>
          <p:nvPr/>
        </p:nvPicPr>
        <p:blipFill>
          <a:blip r:embed="rId4"/>
          <a:stretch>
            <a:fillRect/>
          </a:stretch>
        </p:blipFill>
        <p:spPr>
          <a:xfrm>
            <a:off x="1903898" y="3123350"/>
            <a:ext cx="8131607" cy="3083674"/>
          </a:xfrm>
          <a:prstGeom prst="rect">
            <a:avLst/>
          </a:prstGeom>
        </p:spPr>
      </p:pic>
    </p:spTree>
    <p:extLst>
      <p:ext uri="{BB962C8B-B14F-4D97-AF65-F5344CB8AC3E}">
        <p14:creationId xmlns:p14="http://schemas.microsoft.com/office/powerpoint/2010/main" val="4092264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66AE9DA-6B6D-2C6E-AAA2-9A2138EEA723}"/>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88601FE0-7941-12B6-93C6-7891957B6017}"/>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Warm-up</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81941AD5-95D4-DF43-3D93-F38568303E2D}"/>
              </a:ext>
            </a:extLst>
          </p:cNvPr>
          <p:cNvSpPr txBox="1"/>
          <p:nvPr/>
        </p:nvSpPr>
        <p:spPr>
          <a:xfrm>
            <a:off x="162248" y="1310609"/>
            <a:ext cx="5807453" cy="923330"/>
          </a:xfrm>
          <a:prstGeom prst="rect">
            <a:avLst/>
          </a:prstGeom>
          <a:noFill/>
        </p:spPr>
        <p:txBody>
          <a:bodyPr wrap="square">
            <a:spAutoFit/>
          </a:bodyPr>
          <a:lstStyle/>
          <a:p>
            <a:pPr algn="l"/>
            <a:r>
              <a:rPr lang="en-US" b="0" i="0" dirty="0">
                <a:solidFill>
                  <a:srgbClr val="000000"/>
                </a:solidFill>
                <a:effectLst/>
                <a:latin typeface="+mj-lt"/>
              </a:rPr>
              <a:t>Write a B minor pentatonic scale.</a:t>
            </a:r>
          </a:p>
          <a:p>
            <a:pPr algn="l"/>
            <a:r>
              <a:rPr lang="en-US" dirty="0">
                <a:solidFill>
                  <a:srgbClr val="000000"/>
                </a:solidFill>
                <a:latin typeface="+mj-lt"/>
              </a:rPr>
              <a:t>Write a B [minor] blues scale.</a:t>
            </a:r>
          </a:p>
          <a:p>
            <a:pPr algn="l"/>
            <a:r>
              <a:rPr lang="en-US" b="0" i="0" dirty="0">
                <a:solidFill>
                  <a:srgbClr val="000000"/>
                </a:solidFill>
                <a:effectLst/>
                <a:latin typeface="+mj-lt"/>
              </a:rPr>
              <a:t>Write a </a:t>
            </a:r>
            <a:r>
              <a:rPr lang="en-US" dirty="0">
                <a:solidFill>
                  <a:srgbClr val="000000"/>
                </a:solidFill>
                <a:latin typeface="+mj-lt"/>
              </a:rPr>
              <a:t>D major blues scale.</a:t>
            </a:r>
            <a:endParaRPr lang="en-US" b="0" i="0" dirty="0">
              <a:solidFill>
                <a:srgbClr val="000000"/>
              </a:solidFill>
              <a:effectLst/>
              <a:latin typeface="+mj-lt"/>
            </a:endParaRPr>
          </a:p>
        </p:txBody>
      </p:sp>
      <p:pic>
        <p:nvPicPr>
          <p:cNvPr id="4" name="Picture 3">
            <a:extLst>
              <a:ext uri="{FF2B5EF4-FFF2-40B4-BE49-F238E27FC236}">
                <a16:creationId xmlns:a16="http://schemas.microsoft.com/office/drawing/2014/main" id="{A3CADBAA-A2C4-0AC2-6EAF-3E18B62D3179}"/>
              </a:ext>
            </a:extLst>
          </p:cNvPr>
          <p:cNvPicPr>
            <a:picLocks noChangeAspect="1"/>
          </p:cNvPicPr>
          <p:nvPr/>
        </p:nvPicPr>
        <p:blipFill>
          <a:blip r:embed="rId3"/>
          <a:stretch>
            <a:fillRect/>
          </a:stretch>
        </p:blipFill>
        <p:spPr>
          <a:xfrm>
            <a:off x="2843501" y="4269589"/>
            <a:ext cx="6504997" cy="2466830"/>
          </a:xfrm>
          <a:prstGeom prst="rect">
            <a:avLst/>
          </a:prstGeom>
        </p:spPr>
      </p:pic>
      <p:pic>
        <p:nvPicPr>
          <p:cNvPr id="3" name="Picture 2" descr="This image displays a musical staff with three notes, each marked as O, positioned on the treble clef line, indicating their pitches in ascending order.&#10;&#10;AI-generated content may be incorrect.">
            <a:extLst>
              <a:ext uri="{FF2B5EF4-FFF2-40B4-BE49-F238E27FC236}">
                <a16:creationId xmlns:a16="http://schemas.microsoft.com/office/drawing/2014/main" id="{2AF5A813-88A3-7F01-E5EB-9BA9C2FA2D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6415" y="566680"/>
            <a:ext cx="5421589" cy="3334517"/>
          </a:xfrm>
          <a:prstGeom prst="rect">
            <a:avLst/>
          </a:prstGeom>
        </p:spPr>
      </p:pic>
    </p:spTree>
    <p:extLst>
      <p:ext uri="{BB962C8B-B14F-4D97-AF65-F5344CB8AC3E}">
        <p14:creationId xmlns:p14="http://schemas.microsoft.com/office/powerpoint/2010/main" val="275217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E2632EA-1F03-1897-AFE3-F1D004F02B0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AFF198F3-5539-758B-664F-9E55EEF8B1FA}"/>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Warm-up</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117616BF-A249-6452-E030-7F76A7C767BD}"/>
              </a:ext>
            </a:extLst>
          </p:cNvPr>
          <p:cNvSpPr txBox="1"/>
          <p:nvPr/>
        </p:nvSpPr>
        <p:spPr>
          <a:xfrm>
            <a:off x="162248" y="1310609"/>
            <a:ext cx="5807453" cy="369332"/>
          </a:xfrm>
          <a:prstGeom prst="rect">
            <a:avLst/>
          </a:prstGeom>
          <a:noFill/>
        </p:spPr>
        <p:txBody>
          <a:bodyPr wrap="square">
            <a:spAutoFit/>
          </a:bodyPr>
          <a:lstStyle/>
          <a:p>
            <a:pPr algn="l"/>
            <a:r>
              <a:rPr lang="en-US" b="0" i="0" dirty="0">
                <a:solidFill>
                  <a:srgbClr val="000000"/>
                </a:solidFill>
                <a:effectLst/>
                <a:latin typeface="+mj-lt"/>
              </a:rPr>
              <a:t>Sing some jazz licks with swung rhythms and on solfege:</a:t>
            </a:r>
          </a:p>
        </p:txBody>
      </p:sp>
      <p:pic>
        <p:nvPicPr>
          <p:cNvPr id="5" name="Picture 4" descr="The image appears to be a visual representation of a chord progression in music notation, specifically a C major chord followed by a C major passing chord.&#10;&#10;AI-generated content may be incorrect.">
            <a:extLst>
              <a:ext uri="{FF2B5EF4-FFF2-40B4-BE49-F238E27FC236}">
                <a16:creationId xmlns:a16="http://schemas.microsoft.com/office/drawing/2014/main" id="{B48B7962-18F0-F5DA-407A-A82AF776E0A8}"/>
              </a:ext>
            </a:extLst>
          </p:cNvPr>
          <p:cNvPicPr>
            <a:picLocks noChangeAspect="1"/>
          </p:cNvPicPr>
          <p:nvPr/>
        </p:nvPicPr>
        <p:blipFill>
          <a:blip r:embed="rId3"/>
          <a:stretch>
            <a:fillRect/>
          </a:stretch>
        </p:blipFill>
        <p:spPr>
          <a:xfrm>
            <a:off x="982937" y="2147731"/>
            <a:ext cx="9737991" cy="2814794"/>
          </a:xfrm>
          <a:prstGeom prst="rect">
            <a:avLst/>
          </a:prstGeom>
        </p:spPr>
      </p:pic>
    </p:spTree>
    <p:extLst>
      <p:ext uri="{BB962C8B-B14F-4D97-AF65-F5344CB8AC3E}">
        <p14:creationId xmlns:p14="http://schemas.microsoft.com/office/powerpoint/2010/main" val="1080958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9000854-9463-8A90-D677-7941ECCD330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152DB88A-735B-015C-3501-3713FF6B9162}"/>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Warm-up</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35B9C44F-63A6-A1EE-81AC-4E4CCF206E44}"/>
              </a:ext>
            </a:extLst>
          </p:cNvPr>
          <p:cNvSpPr txBox="1"/>
          <p:nvPr/>
        </p:nvSpPr>
        <p:spPr>
          <a:xfrm>
            <a:off x="162248" y="1310609"/>
            <a:ext cx="5807453" cy="369332"/>
          </a:xfrm>
          <a:prstGeom prst="rect">
            <a:avLst/>
          </a:prstGeom>
          <a:noFill/>
        </p:spPr>
        <p:txBody>
          <a:bodyPr wrap="square">
            <a:spAutoFit/>
          </a:bodyPr>
          <a:lstStyle/>
          <a:p>
            <a:pPr algn="l"/>
            <a:r>
              <a:rPr lang="en-US" b="0" i="0" dirty="0">
                <a:solidFill>
                  <a:srgbClr val="000000"/>
                </a:solidFill>
                <a:effectLst/>
                <a:latin typeface="+mj-lt"/>
              </a:rPr>
              <a:t>Sing some jazz licks with swung rhythms and on solfege:</a:t>
            </a:r>
          </a:p>
        </p:txBody>
      </p:sp>
      <p:pic>
        <p:nvPicPr>
          <p:cNvPr id="5" name="Picture 4">
            <a:extLst>
              <a:ext uri="{FF2B5EF4-FFF2-40B4-BE49-F238E27FC236}">
                <a16:creationId xmlns:a16="http://schemas.microsoft.com/office/drawing/2014/main" id="{E72C5F4B-70EA-E0AD-F225-26B9EECCB28D}"/>
              </a:ext>
            </a:extLst>
          </p:cNvPr>
          <p:cNvPicPr>
            <a:picLocks noChangeAspect="1"/>
          </p:cNvPicPr>
          <p:nvPr/>
        </p:nvPicPr>
        <p:blipFill>
          <a:blip r:embed="rId3"/>
          <a:stretch>
            <a:fillRect/>
          </a:stretch>
        </p:blipFill>
        <p:spPr>
          <a:xfrm>
            <a:off x="1011512" y="1833406"/>
            <a:ext cx="9737991" cy="2814794"/>
          </a:xfrm>
          <a:prstGeom prst="rect">
            <a:avLst/>
          </a:prstGeom>
        </p:spPr>
      </p:pic>
      <p:pic>
        <p:nvPicPr>
          <p:cNvPr id="3" name="Picture 2" descr="The image depicts a musical score with a syncopated rhythm, featuring a C7 chord, and includes a measure numbered 4.&#10;&#10;AI-generated content may be incorrect.">
            <a:extLst>
              <a:ext uri="{FF2B5EF4-FFF2-40B4-BE49-F238E27FC236}">
                <a16:creationId xmlns:a16="http://schemas.microsoft.com/office/drawing/2014/main" id="{E9753987-BD1B-6892-E916-495671E60FD2}"/>
              </a:ext>
            </a:extLst>
          </p:cNvPr>
          <p:cNvPicPr>
            <a:picLocks noChangeAspect="1"/>
          </p:cNvPicPr>
          <p:nvPr/>
        </p:nvPicPr>
        <p:blipFill>
          <a:blip r:embed="rId4"/>
          <a:stretch>
            <a:fillRect/>
          </a:stretch>
        </p:blipFill>
        <p:spPr>
          <a:xfrm>
            <a:off x="925455" y="4801665"/>
            <a:ext cx="9737991" cy="1126568"/>
          </a:xfrm>
          <a:prstGeom prst="rect">
            <a:avLst/>
          </a:prstGeom>
        </p:spPr>
      </p:pic>
    </p:spTree>
    <p:extLst>
      <p:ext uri="{BB962C8B-B14F-4D97-AF65-F5344CB8AC3E}">
        <p14:creationId xmlns:p14="http://schemas.microsoft.com/office/powerpoint/2010/main" val="829073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EC22FF81-8DB3-D695-DFDE-FD00F1DD3EC4}"/>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721A294B-0039-AD4E-B240-9B27C845741D}"/>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3074" name="Picture 2" descr="annotations on a chord symbol Cm(add#11)/E♭">
            <a:extLst>
              <a:ext uri="{FF2B5EF4-FFF2-40B4-BE49-F238E27FC236}">
                <a16:creationId xmlns:a16="http://schemas.microsoft.com/office/drawing/2014/main" id="{1B83F383-B0D0-ECE4-213A-C601257CF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100" y="1655763"/>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732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9F0263F3-993B-4946-2655-EADCEAFA364C}"/>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CE2BF4B4-C3EE-C6EA-BB5A-10C24580874C}"/>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Root</a:t>
            </a:r>
            <a:endParaRPr lang="en" b="0" dirty="0">
              <a:ea typeface="Yanone Kaffeesatz"/>
              <a:cs typeface="Yanone Kaffeesatz"/>
              <a:sym typeface="Yanone Kaffeesatz"/>
            </a:endParaRPr>
          </a:p>
        </p:txBody>
      </p:sp>
      <p:pic>
        <p:nvPicPr>
          <p:cNvPr id="3074" name="Picture 2" descr="annotations on a chord symbol Cm(add#11)/E♭">
            <a:extLst>
              <a:ext uri="{FF2B5EF4-FFF2-40B4-BE49-F238E27FC236}">
                <a16:creationId xmlns:a16="http://schemas.microsoft.com/office/drawing/2014/main" id="{681EC69B-38F9-B314-36EF-9D48C25371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100" y="1655763"/>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7969D5-8C91-322B-3712-B594E90F2F4D}"/>
              </a:ext>
            </a:extLst>
          </p:cNvPr>
          <p:cNvSpPr txBox="1"/>
          <p:nvPr/>
        </p:nvSpPr>
        <p:spPr>
          <a:xfrm>
            <a:off x="432250" y="4679552"/>
            <a:ext cx="6096000" cy="369332"/>
          </a:xfrm>
          <a:prstGeom prst="rect">
            <a:avLst/>
          </a:prstGeom>
          <a:noFill/>
        </p:spPr>
        <p:txBody>
          <a:bodyPr wrap="square">
            <a:spAutoFit/>
          </a:bodyPr>
          <a:lstStyle/>
          <a:p>
            <a:pPr algn="l">
              <a:buNone/>
            </a:pPr>
            <a:r>
              <a:rPr lang="en-US" b="0" i="0" dirty="0">
                <a:solidFill>
                  <a:srgbClr val="373D3F"/>
                </a:solidFill>
                <a:effectLst/>
                <a:latin typeface="FreeSerif"/>
              </a:rPr>
              <a:t>The root of the chord is given as an uppercase letter</a:t>
            </a:r>
          </a:p>
        </p:txBody>
      </p:sp>
      <p:sp>
        <p:nvSpPr>
          <p:cNvPr id="5" name="Rectangle 4">
            <a:extLst>
              <a:ext uri="{FF2B5EF4-FFF2-40B4-BE49-F238E27FC236}">
                <a16:creationId xmlns:a16="http://schemas.microsoft.com/office/drawing/2014/main" id="{D3391AE6-6BA9-59F2-0AB7-B0F002531A22}"/>
              </a:ext>
            </a:extLst>
          </p:cNvPr>
          <p:cNvSpPr/>
          <p:nvPr/>
        </p:nvSpPr>
        <p:spPr>
          <a:xfrm>
            <a:off x="3952875" y="2133600"/>
            <a:ext cx="361950" cy="276246"/>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8186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7828A6B6-776E-D4E2-7685-7A48CF5A203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DA881C9A-B711-2FEB-50F3-1D2AA66D7C47}"/>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Quality</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3CB8E875-07BE-E33C-155C-7F8FF0F71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755F0EF-34FC-90D9-218E-644927C726A6}"/>
              </a:ext>
            </a:extLst>
          </p:cNvPr>
          <p:cNvPicPr>
            <a:picLocks noChangeAspect="1"/>
          </p:cNvPicPr>
          <p:nvPr/>
        </p:nvPicPr>
        <p:blipFill>
          <a:blip r:embed="rId4"/>
          <a:stretch>
            <a:fillRect/>
          </a:stretch>
        </p:blipFill>
        <p:spPr>
          <a:xfrm>
            <a:off x="570438" y="3312886"/>
            <a:ext cx="4567862" cy="1636486"/>
          </a:xfrm>
          <a:prstGeom prst="rect">
            <a:avLst/>
          </a:prstGeom>
        </p:spPr>
      </p:pic>
      <p:pic>
        <p:nvPicPr>
          <p:cNvPr id="8" name="Picture 7">
            <a:extLst>
              <a:ext uri="{FF2B5EF4-FFF2-40B4-BE49-F238E27FC236}">
                <a16:creationId xmlns:a16="http://schemas.microsoft.com/office/drawing/2014/main" id="{E5F2DAE5-1BEB-C53C-3572-56A31FE00D12}"/>
              </a:ext>
            </a:extLst>
          </p:cNvPr>
          <p:cNvPicPr>
            <a:picLocks noChangeAspect="1"/>
          </p:cNvPicPr>
          <p:nvPr/>
        </p:nvPicPr>
        <p:blipFill>
          <a:blip r:embed="rId5"/>
          <a:stretch>
            <a:fillRect/>
          </a:stretch>
        </p:blipFill>
        <p:spPr>
          <a:xfrm>
            <a:off x="5476727" y="3207065"/>
            <a:ext cx="6461586" cy="1858421"/>
          </a:xfrm>
          <a:prstGeom prst="rect">
            <a:avLst/>
          </a:prstGeom>
        </p:spPr>
      </p:pic>
      <p:sp>
        <p:nvSpPr>
          <p:cNvPr id="2" name="Rectangle 1">
            <a:extLst>
              <a:ext uri="{FF2B5EF4-FFF2-40B4-BE49-F238E27FC236}">
                <a16:creationId xmlns:a16="http://schemas.microsoft.com/office/drawing/2014/main" id="{D631DC6C-721A-F1EF-0956-3F168F8D74F4}"/>
              </a:ext>
            </a:extLst>
          </p:cNvPr>
          <p:cNvSpPr/>
          <p:nvPr/>
        </p:nvSpPr>
        <p:spPr>
          <a:xfrm>
            <a:off x="8858249" y="2082353"/>
            <a:ext cx="523875" cy="251272"/>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7821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3C28262F-B759-73D8-0028-552372AA2B72}"/>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0C440527-14EB-8CEC-177A-BCE7F01A7D32}"/>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Extensions, Alterations, Etc.</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375BA152-54BA-1076-54EA-195C7F81E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4388D9-6C6C-967D-2CCD-2BC166E2FB71}"/>
              </a:ext>
            </a:extLst>
          </p:cNvPr>
          <p:cNvSpPr txBox="1"/>
          <p:nvPr/>
        </p:nvSpPr>
        <p:spPr>
          <a:xfrm>
            <a:off x="464457" y="1568190"/>
            <a:ext cx="4325257" cy="5632311"/>
          </a:xfrm>
          <a:prstGeom prst="rect">
            <a:avLst/>
          </a:prstGeom>
          <a:noFill/>
        </p:spPr>
        <p:txBody>
          <a:bodyPr wrap="square" rtlCol="0">
            <a:spAutoFit/>
          </a:bodyPr>
          <a:lstStyle/>
          <a:p>
            <a:r>
              <a:rPr lang="en-US" b="1" dirty="0">
                <a:solidFill>
                  <a:schemeClr val="accent2"/>
                </a:solidFill>
              </a:rPr>
              <a:t>Extensions</a:t>
            </a:r>
            <a:r>
              <a:rPr lang="en-US" dirty="0"/>
              <a:t>: “Adding additional thirds on top of the triad. Most commonly refers to ninths, elevenths, or thirteenths rather than sevenths, although sevenths are also extensions.”</a:t>
            </a:r>
          </a:p>
          <a:p>
            <a:endParaRPr lang="en-US" dirty="0"/>
          </a:p>
          <a:p>
            <a:r>
              <a:rPr lang="en-US" b="1" dirty="0">
                <a:solidFill>
                  <a:schemeClr val="accent5"/>
                </a:solidFill>
              </a:rPr>
              <a:t>Quality &amp; Alterations</a:t>
            </a:r>
            <a:r>
              <a:rPr lang="en-US" dirty="0"/>
              <a:t>: Assume default intervals for extensions:</a:t>
            </a:r>
          </a:p>
          <a:p>
            <a:endParaRPr lang="en-US" dirty="0"/>
          </a:p>
          <a:p>
            <a:endParaRPr lang="en-US" dirty="0"/>
          </a:p>
          <a:p>
            <a:r>
              <a:rPr lang="en-US" dirty="0"/>
              <a:t>Will use # and b to raise or lower regardless of actual accidentals.</a:t>
            </a:r>
          </a:p>
          <a:p>
            <a:endParaRPr lang="en-US" dirty="0"/>
          </a:p>
          <a:p>
            <a:r>
              <a:rPr lang="en-US" b="1" dirty="0">
                <a:solidFill>
                  <a:schemeClr val="accent2"/>
                </a:solidFill>
              </a:rPr>
              <a:t>Added Note &amp; Suspensions</a:t>
            </a:r>
            <a:r>
              <a:rPr lang="en-US" dirty="0"/>
              <a:t>: If no seventh or extensions are implied but notes beyond the triad are present. (</a:t>
            </a:r>
            <a:r>
              <a:rPr lang="en-US" i="1" dirty="0"/>
              <a:t>add 6, add 9</a:t>
            </a:r>
            <a:r>
              <a:rPr lang="en-US" dirty="0"/>
              <a:t>)</a:t>
            </a:r>
          </a:p>
          <a:p>
            <a:r>
              <a:rPr lang="en-US" dirty="0"/>
              <a:t>Sus 2, sus 4 are common. Assume sus 4 if all you see is “sus”.</a:t>
            </a:r>
          </a:p>
          <a:p>
            <a:endParaRPr lang="en-US" dirty="0"/>
          </a:p>
          <a:p>
            <a:endParaRPr lang="en-US" dirty="0"/>
          </a:p>
        </p:txBody>
      </p:sp>
      <p:graphicFrame>
        <p:nvGraphicFramePr>
          <p:cNvPr id="7" name="Table 6">
            <a:extLst>
              <a:ext uri="{FF2B5EF4-FFF2-40B4-BE49-F238E27FC236}">
                <a16:creationId xmlns:a16="http://schemas.microsoft.com/office/drawing/2014/main" id="{DBADF288-AC19-8B37-1BD7-E4171EB5D591}"/>
              </a:ext>
            </a:extLst>
          </p:cNvPr>
          <p:cNvGraphicFramePr>
            <a:graphicFrameLocks noGrp="1"/>
          </p:cNvGraphicFramePr>
          <p:nvPr>
            <p:extLst>
              <p:ext uri="{D42A27DB-BD31-4B8C-83A1-F6EECF244321}">
                <p14:modId xmlns:p14="http://schemas.microsoft.com/office/powerpoint/2010/main" val="2172061553"/>
              </p:ext>
            </p:extLst>
          </p:nvPr>
        </p:nvGraphicFramePr>
        <p:xfrm>
          <a:off x="595087" y="3840237"/>
          <a:ext cx="2656116"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699297581"/>
                    </a:ext>
                  </a:extLst>
                </a:gridCol>
                <a:gridCol w="664029">
                  <a:extLst>
                    <a:ext uri="{9D8B030D-6E8A-4147-A177-3AD203B41FA5}">
                      <a16:colId xmlns:a16="http://schemas.microsoft.com/office/drawing/2014/main" val="3245603432"/>
                    </a:ext>
                  </a:extLst>
                </a:gridCol>
                <a:gridCol w="664029">
                  <a:extLst>
                    <a:ext uri="{9D8B030D-6E8A-4147-A177-3AD203B41FA5}">
                      <a16:colId xmlns:a16="http://schemas.microsoft.com/office/drawing/2014/main" val="3868869410"/>
                    </a:ext>
                  </a:extLst>
                </a:gridCol>
                <a:gridCol w="664029">
                  <a:extLst>
                    <a:ext uri="{9D8B030D-6E8A-4147-A177-3AD203B41FA5}">
                      <a16:colId xmlns:a16="http://schemas.microsoft.com/office/drawing/2014/main" val="1390845326"/>
                    </a:ext>
                  </a:extLst>
                </a:gridCol>
              </a:tblGrid>
              <a:tr h="370840">
                <a:tc>
                  <a:txBody>
                    <a:bodyPr/>
                    <a:lstStyle/>
                    <a:p>
                      <a:r>
                        <a:rPr lang="en-US" dirty="0"/>
                        <a:t>m7</a:t>
                      </a:r>
                    </a:p>
                  </a:txBody>
                  <a:tcPr/>
                </a:tc>
                <a:tc>
                  <a:txBody>
                    <a:bodyPr/>
                    <a:lstStyle/>
                    <a:p>
                      <a:r>
                        <a:rPr lang="en-US" dirty="0"/>
                        <a:t>M9</a:t>
                      </a:r>
                    </a:p>
                  </a:txBody>
                  <a:tcPr/>
                </a:tc>
                <a:tc>
                  <a:txBody>
                    <a:bodyPr/>
                    <a:lstStyle/>
                    <a:p>
                      <a:r>
                        <a:rPr lang="en-US" dirty="0"/>
                        <a:t>P11</a:t>
                      </a:r>
                    </a:p>
                  </a:txBody>
                  <a:tcPr/>
                </a:tc>
                <a:tc>
                  <a:txBody>
                    <a:bodyPr/>
                    <a:lstStyle/>
                    <a:p>
                      <a:r>
                        <a:rPr lang="en-US" dirty="0"/>
                        <a:t>M13</a:t>
                      </a:r>
                    </a:p>
                  </a:txBody>
                  <a:tcPr/>
                </a:tc>
                <a:extLst>
                  <a:ext uri="{0D108BD9-81ED-4DB2-BD59-A6C34878D82A}">
                    <a16:rowId xmlns:a16="http://schemas.microsoft.com/office/drawing/2014/main" val="4119527521"/>
                  </a:ext>
                </a:extLst>
              </a:tr>
            </a:tbl>
          </a:graphicData>
        </a:graphic>
      </p:graphicFrame>
      <p:sp>
        <p:nvSpPr>
          <p:cNvPr id="3" name="Rectangle 2">
            <a:extLst>
              <a:ext uri="{FF2B5EF4-FFF2-40B4-BE49-F238E27FC236}">
                <a16:creationId xmlns:a16="http://schemas.microsoft.com/office/drawing/2014/main" id="{93C6898A-6FD2-49FB-A5AF-08D9EF288522}"/>
              </a:ext>
            </a:extLst>
          </p:cNvPr>
          <p:cNvSpPr/>
          <p:nvPr/>
        </p:nvSpPr>
        <p:spPr>
          <a:xfrm>
            <a:off x="9285510" y="552450"/>
            <a:ext cx="810990" cy="42862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8737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AB7664A-04FA-51F2-D599-5C72BF6DB3EB}"/>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5EC77A0B-2158-EE67-4C51-97B5AB816267}"/>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Bass Notes</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FFB469C6-3A19-CDF0-3B8E-EA5A0BC879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7F849C-1B88-F316-0794-1390BCC8196B}"/>
              </a:ext>
            </a:extLst>
          </p:cNvPr>
          <p:cNvSpPr txBox="1"/>
          <p:nvPr/>
        </p:nvSpPr>
        <p:spPr>
          <a:xfrm>
            <a:off x="464457" y="1568190"/>
            <a:ext cx="605064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In much of jazz and pop, the bass note is the root of the chord. </a:t>
            </a:r>
          </a:p>
          <a:p>
            <a:pPr marL="285750" indent="-285750">
              <a:buFont typeface="Arial" panose="020B0604020202020204" pitchFamily="34" charset="0"/>
              <a:buChar char="•"/>
            </a:pPr>
            <a:r>
              <a:rPr lang="en-US" dirty="0"/>
              <a:t>Chord symbols are assumed to indicate root position chords unless otherwise indicated. But in performance the lowest note might not always be the root!</a:t>
            </a:r>
          </a:p>
          <a:p>
            <a:pPr marL="285750" indent="-285750">
              <a:buFont typeface="Arial" panose="020B0604020202020204" pitchFamily="34" charset="0"/>
              <a:buChar char="•"/>
            </a:pPr>
            <a:r>
              <a:rPr lang="en-US" dirty="0"/>
              <a:t>If the bass note </a:t>
            </a:r>
            <a:r>
              <a:rPr lang="en-US" b="1" dirty="0">
                <a:solidFill>
                  <a:srgbClr val="00B0F0"/>
                </a:solidFill>
              </a:rPr>
              <a:t>is not </a:t>
            </a:r>
            <a:r>
              <a:rPr lang="en-US" dirty="0"/>
              <a:t>the root, folks will use a slash followed by the letter name of the bass note. This will not always show inversion!</a:t>
            </a:r>
          </a:p>
          <a:p>
            <a:pPr marL="742950" lvl="1" indent="-285750">
              <a:buFont typeface="Arial" panose="020B0604020202020204" pitchFamily="34" charset="0"/>
              <a:buChar char="•"/>
            </a:pPr>
            <a:r>
              <a:rPr lang="en-US" dirty="0"/>
              <a:t>Simple example (chord inversion): C/E means to play a C major triad with an E in the bass.</a:t>
            </a:r>
          </a:p>
          <a:p>
            <a:pPr marL="742950" lvl="1" indent="-285750">
              <a:buFont typeface="Arial" panose="020B0604020202020204" pitchFamily="34" charset="0"/>
              <a:buChar char="•"/>
            </a:pPr>
            <a:r>
              <a:rPr lang="en-US" dirty="0"/>
              <a:t>Complex example (not inversion!): C/F♯ means to play a C major triad over an F♯.</a:t>
            </a:r>
          </a:p>
          <a:p>
            <a:endParaRPr lang="en-US" dirty="0"/>
          </a:p>
          <a:p>
            <a:endParaRPr lang="en-US" dirty="0"/>
          </a:p>
        </p:txBody>
      </p:sp>
      <p:sp>
        <p:nvSpPr>
          <p:cNvPr id="3" name="Rectangle 2">
            <a:extLst>
              <a:ext uri="{FF2B5EF4-FFF2-40B4-BE49-F238E27FC236}">
                <a16:creationId xmlns:a16="http://schemas.microsoft.com/office/drawing/2014/main" id="{16783A80-E02A-BB24-4AE3-6F35112E5ED1}"/>
              </a:ext>
            </a:extLst>
          </p:cNvPr>
          <p:cNvSpPr/>
          <p:nvPr/>
        </p:nvSpPr>
        <p:spPr>
          <a:xfrm>
            <a:off x="10296525" y="2085975"/>
            <a:ext cx="514350" cy="419100"/>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158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D2A23651-5AAD-FCF0-B94D-72870CE6E067}"/>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B7D1C9C6-146F-BDC5-CDF6-73B292D0B6E2}"/>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Chord Symbols </a:t>
            </a:r>
            <a:endParaRPr lang="en" b="0" dirty="0">
              <a:ea typeface="Yanone Kaffeesatz"/>
              <a:cs typeface="Yanone Kaffeesatz"/>
              <a:sym typeface="Yanone Kaffeesatz"/>
            </a:endParaRPr>
          </a:p>
        </p:txBody>
      </p:sp>
      <p:pic>
        <p:nvPicPr>
          <p:cNvPr id="3" name="Picture 2">
            <a:extLst>
              <a:ext uri="{FF2B5EF4-FFF2-40B4-BE49-F238E27FC236}">
                <a16:creationId xmlns:a16="http://schemas.microsoft.com/office/drawing/2014/main" id="{D987F57A-0A7E-29EF-A72A-37E64802B2C7}"/>
              </a:ext>
            </a:extLst>
          </p:cNvPr>
          <p:cNvPicPr>
            <a:picLocks noChangeAspect="1"/>
          </p:cNvPicPr>
          <p:nvPr/>
        </p:nvPicPr>
        <p:blipFill>
          <a:blip r:embed="rId3"/>
          <a:stretch>
            <a:fillRect/>
          </a:stretch>
        </p:blipFill>
        <p:spPr>
          <a:xfrm>
            <a:off x="499640" y="1702769"/>
            <a:ext cx="6031787" cy="3771776"/>
          </a:xfrm>
          <a:prstGeom prst="rect">
            <a:avLst/>
          </a:prstGeom>
        </p:spPr>
      </p:pic>
      <p:pic>
        <p:nvPicPr>
          <p:cNvPr id="5" name="Picture 4">
            <a:extLst>
              <a:ext uri="{FF2B5EF4-FFF2-40B4-BE49-F238E27FC236}">
                <a16:creationId xmlns:a16="http://schemas.microsoft.com/office/drawing/2014/main" id="{3BFE1727-DDEB-0EB8-6580-8869E85942EC}"/>
              </a:ext>
            </a:extLst>
          </p:cNvPr>
          <p:cNvPicPr>
            <a:picLocks noChangeAspect="1"/>
          </p:cNvPicPr>
          <p:nvPr/>
        </p:nvPicPr>
        <p:blipFill>
          <a:blip r:embed="rId4"/>
          <a:stretch>
            <a:fillRect/>
          </a:stretch>
        </p:blipFill>
        <p:spPr>
          <a:xfrm>
            <a:off x="6820048" y="3070859"/>
            <a:ext cx="4792254" cy="2403686"/>
          </a:xfrm>
          <a:prstGeom prst="rect">
            <a:avLst/>
          </a:prstGeom>
        </p:spPr>
      </p:pic>
      <p:pic>
        <p:nvPicPr>
          <p:cNvPr id="6" name="Picture 2" descr="annotations on a chord symbol Cm(add#11)/E♭">
            <a:extLst>
              <a:ext uri="{FF2B5EF4-FFF2-40B4-BE49-F238E27FC236}">
                <a16:creationId xmlns:a16="http://schemas.microsoft.com/office/drawing/2014/main" id="{1F271D0A-18C1-3F86-5B2D-53FBADBF83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570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D5A10C61-185A-6838-DA60-4714B23B388D}"/>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796027C4-F94C-CB71-4027-4FC5AAC2BA54}"/>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Practice</a:t>
            </a:r>
            <a:endParaRPr lang="en" b="0" dirty="0">
              <a:ea typeface="Yanone Kaffeesatz"/>
              <a:cs typeface="Yanone Kaffeesatz"/>
              <a:sym typeface="Yanone Kaffeesatz"/>
            </a:endParaRPr>
          </a:p>
        </p:txBody>
      </p:sp>
      <p:sp>
        <p:nvSpPr>
          <p:cNvPr id="7" name="TextBox 6">
            <a:extLst>
              <a:ext uri="{FF2B5EF4-FFF2-40B4-BE49-F238E27FC236}">
                <a16:creationId xmlns:a16="http://schemas.microsoft.com/office/drawing/2014/main" id="{A0D1CF6C-E052-D990-EB1D-F82FE911FE3A}"/>
              </a:ext>
            </a:extLst>
          </p:cNvPr>
          <p:cNvSpPr txBox="1"/>
          <p:nvPr/>
        </p:nvSpPr>
        <p:spPr>
          <a:xfrm>
            <a:off x="517848" y="1325467"/>
            <a:ext cx="5807453" cy="3539430"/>
          </a:xfrm>
          <a:prstGeom prst="rect">
            <a:avLst/>
          </a:prstGeom>
          <a:noFill/>
        </p:spPr>
        <p:txBody>
          <a:bodyPr wrap="square">
            <a:spAutoFit/>
          </a:bodyPr>
          <a:lstStyle/>
          <a:p>
            <a:pPr algn="l"/>
            <a:r>
              <a:rPr lang="en-US" sz="2800" b="0" i="0" dirty="0">
                <a:solidFill>
                  <a:srgbClr val="000000"/>
                </a:solidFill>
                <a:effectLst/>
                <a:latin typeface="+mj-lt"/>
              </a:rPr>
              <a:t>Spell the following harmonies</a:t>
            </a:r>
            <a:r>
              <a:rPr lang="en-US" sz="2800" dirty="0">
                <a:solidFill>
                  <a:srgbClr val="000000"/>
                </a:solidFill>
                <a:latin typeface="+mj-lt"/>
              </a:rPr>
              <a:t>.</a:t>
            </a:r>
          </a:p>
          <a:p>
            <a:pPr algn="l"/>
            <a:endParaRPr lang="en-US" sz="2800" b="0" i="0" dirty="0">
              <a:solidFill>
                <a:srgbClr val="000000"/>
              </a:solidFill>
              <a:effectLst/>
              <a:latin typeface="+mj-lt"/>
            </a:endParaRPr>
          </a:p>
          <a:p>
            <a:pPr marL="342900" indent="-342900" algn="l">
              <a:buFont typeface="+mj-lt"/>
              <a:buAutoNum type="arabicPeriod"/>
            </a:pPr>
            <a:r>
              <a:rPr lang="en-US" sz="2800" dirty="0">
                <a:solidFill>
                  <a:srgbClr val="000000"/>
                </a:solidFill>
                <a:latin typeface="+mj-lt"/>
              </a:rPr>
              <a:t>E</a:t>
            </a:r>
            <a:r>
              <a:rPr lang="en-US" sz="2000" cap="small" dirty="0">
                <a:solidFill>
                  <a:srgbClr val="000000"/>
                </a:solidFill>
                <a:latin typeface="+mj-lt"/>
              </a:rPr>
              <a:t>ma</a:t>
            </a:r>
            <a:r>
              <a:rPr lang="en-US" sz="2800" baseline="30000" dirty="0">
                <a:solidFill>
                  <a:srgbClr val="000000"/>
                </a:solidFill>
                <a:latin typeface="+mj-lt"/>
              </a:rPr>
              <a:t>13(#11)</a:t>
            </a:r>
          </a:p>
          <a:p>
            <a:pPr marL="342900" indent="-342900" algn="l">
              <a:buFont typeface="+mj-lt"/>
              <a:buAutoNum type="arabicPeriod"/>
            </a:pPr>
            <a:r>
              <a:rPr lang="en-US" sz="2800" b="0" i="0" dirty="0">
                <a:solidFill>
                  <a:srgbClr val="000000"/>
                </a:solidFill>
                <a:effectLst/>
                <a:latin typeface="+mj-lt"/>
              </a:rPr>
              <a:t>B</a:t>
            </a:r>
            <a:r>
              <a:rPr lang="en-US" sz="2000" b="0" i="0" dirty="0">
                <a:solidFill>
                  <a:srgbClr val="000000"/>
                </a:solidFill>
                <a:effectLst/>
                <a:latin typeface="+mj-lt"/>
              </a:rPr>
              <a:t>b</a:t>
            </a:r>
            <a:r>
              <a:rPr lang="en-US" sz="2800" b="0" i="0" baseline="30000" dirty="0">
                <a:solidFill>
                  <a:srgbClr val="000000"/>
                </a:solidFill>
                <a:effectLst/>
                <a:latin typeface="+mj-lt"/>
              </a:rPr>
              <a:t>7(#9)</a:t>
            </a:r>
          </a:p>
          <a:p>
            <a:pPr marL="342900" indent="-342900" algn="l">
              <a:buFont typeface="+mj-lt"/>
              <a:buAutoNum type="arabicPeriod"/>
            </a:pPr>
            <a:r>
              <a:rPr lang="en-US" sz="2800" b="0" i="0" dirty="0">
                <a:solidFill>
                  <a:srgbClr val="000000"/>
                </a:solidFill>
                <a:effectLst/>
                <a:latin typeface="+mj-lt"/>
              </a:rPr>
              <a:t>D</a:t>
            </a:r>
            <a:r>
              <a:rPr lang="en-US" sz="2800" b="0" i="0" baseline="30000" dirty="0">
                <a:solidFill>
                  <a:srgbClr val="000000"/>
                </a:solidFill>
                <a:effectLst/>
                <a:latin typeface="+mj-lt"/>
              </a:rPr>
              <a:t>7</a:t>
            </a:r>
            <a:r>
              <a:rPr lang="en-US" sz="2800" b="0" i="0" dirty="0">
                <a:solidFill>
                  <a:srgbClr val="000000"/>
                </a:solidFill>
                <a:effectLst/>
                <a:latin typeface="+mj-lt"/>
              </a:rPr>
              <a:t>sus</a:t>
            </a:r>
          </a:p>
          <a:p>
            <a:pPr marL="342900" indent="-342900" algn="l">
              <a:buFont typeface="+mj-lt"/>
              <a:buAutoNum type="arabicPeriod"/>
            </a:pPr>
            <a:r>
              <a:rPr lang="en-US" sz="2800" b="0" i="0" dirty="0">
                <a:solidFill>
                  <a:srgbClr val="000000"/>
                </a:solidFill>
                <a:effectLst/>
                <a:latin typeface="+mj-lt"/>
              </a:rPr>
              <a:t>F</a:t>
            </a:r>
            <a:r>
              <a:rPr lang="en-US" sz="2800" b="0" i="0" baseline="30000" dirty="0">
                <a:solidFill>
                  <a:srgbClr val="000000"/>
                </a:solidFill>
                <a:effectLst/>
                <a:latin typeface="+mj-lt"/>
              </a:rPr>
              <a:t>6</a:t>
            </a:r>
          </a:p>
          <a:p>
            <a:pPr marL="342900" indent="-342900" algn="l">
              <a:buFont typeface="+mj-lt"/>
              <a:buAutoNum type="arabicPeriod"/>
            </a:pPr>
            <a:r>
              <a:rPr lang="en-US" sz="2800" dirty="0">
                <a:solidFill>
                  <a:srgbClr val="000000"/>
                </a:solidFill>
                <a:latin typeface="+mj-lt"/>
              </a:rPr>
              <a:t>Am</a:t>
            </a:r>
            <a:r>
              <a:rPr lang="en-US" sz="2800" baseline="30000" dirty="0">
                <a:solidFill>
                  <a:srgbClr val="000000"/>
                </a:solidFill>
                <a:latin typeface="+mj-lt"/>
              </a:rPr>
              <a:t>6</a:t>
            </a:r>
            <a:r>
              <a:rPr lang="en-US" sz="2800" baseline="-25000" dirty="0">
                <a:solidFill>
                  <a:srgbClr val="000000"/>
                </a:solidFill>
                <a:latin typeface="+mj-lt"/>
              </a:rPr>
              <a:t>9</a:t>
            </a:r>
          </a:p>
          <a:p>
            <a:pPr marL="342900" indent="-342900" algn="l">
              <a:buFont typeface="+mj-lt"/>
              <a:buAutoNum type="arabicPeriod"/>
            </a:pPr>
            <a:r>
              <a:rPr lang="en-US" sz="2800" b="0" i="0" dirty="0">
                <a:solidFill>
                  <a:srgbClr val="000000"/>
                </a:solidFill>
                <a:effectLst/>
                <a:latin typeface="+mj-lt"/>
              </a:rPr>
              <a:t>B</a:t>
            </a:r>
            <a:r>
              <a:rPr lang="en-US" sz="2800" b="0" i="0" baseline="30000" dirty="0">
                <a:solidFill>
                  <a:srgbClr val="000000"/>
                </a:solidFill>
                <a:effectLst/>
                <a:latin typeface="+mj-lt"/>
              </a:rPr>
              <a:t>o(MA7)</a:t>
            </a:r>
          </a:p>
        </p:txBody>
      </p:sp>
      <p:sp>
        <p:nvSpPr>
          <p:cNvPr id="5" name="TextBox 4">
            <a:extLst>
              <a:ext uri="{FF2B5EF4-FFF2-40B4-BE49-F238E27FC236}">
                <a16:creationId xmlns:a16="http://schemas.microsoft.com/office/drawing/2014/main" id="{384BA174-F28E-7EF9-7BFA-5D2B1A15FEDC}"/>
              </a:ext>
            </a:extLst>
          </p:cNvPr>
          <p:cNvSpPr txBox="1"/>
          <p:nvPr/>
        </p:nvSpPr>
        <p:spPr>
          <a:xfrm>
            <a:off x="6860852" y="2762337"/>
            <a:ext cx="4597400" cy="3693319"/>
          </a:xfrm>
          <a:prstGeom prst="rect">
            <a:avLst/>
          </a:prstGeom>
          <a:noFill/>
        </p:spPr>
        <p:txBody>
          <a:bodyPr wrap="square">
            <a:spAutoFit/>
          </a:bodyPr>
          <a:lstStyle/>
          <a:p>
            <a:r>
              <a:rPr lang="en-US" b="1" dirty="0">
                <a:solidFill>
                  <a:schemeClr val="accent5"/>
                </a:solidFill>
              </a:rPr>
              <a:t>Quality &amp; Alterations</a:t>
            </a:r>
            <a:r>
              <a:rPr lang="en-US" dirty="0"/>
              <a:t>: Assume default intervals for extensions:</a:t>
            </a:r>
          </a:p>
          <a:p>
            <a:endParaRPr lang="en-US" dirty="0"/>
          </a:p>
          <a:p>
            <a:endParaRPr lang="en-US" dirty="0"/>
          </a:p>
          <a:p>
            <a:endParaRPr lang="en-US" dirty="0"/>
          </a:p>
          <a:p>
            <a:r>
              <a:rPr lang="en-US" dirty="0"/>
              <a:t>Will use # and b to raise or lower regardless of actual accidentals.</a:t>
            </a:r>
          </a:p>
          <a:p>
            <a:endParaRPr lang="en-US" dirty="0"/>
          </a:p>
          <a:p>
            <a:r>
              <a:rPr lang="en-US" b="1" dirty="0">
                <a:solidFill>
                  <a:schemeClr val="accent2"/>
                </a:solidFill>
              </a:rPr>
              <a:t>Added Note &amp; Suspensions</a:t>
            </a:r>
            <a:r>
              <a:rPr lang="en-US" dirty="0"/>
              <a:t>: If no seventh or extensions are implied but notes beyond the triad are present. (</a:t>
            </a:r>
            <a:r>
              <a:rPr lang="en-US" i="1" dirty="0"/>
              <a:t>add 6, add 9</a:t>
            </a:r>
            <a:r>
              <a:rPr lang="en-US" dirty="0"/>
              <a:t>)</a:t>
            </a:r>
          </a:p>
          <a:p>
            <a:r>
              <a:rPr lang="en-US" dirty="0"/>
              <a:t>Sus 2, sus 4 are common. Assume sus 4 if all you see is “sus”.</a:t>
            </a:r>
          </a:p>
        </p:txBody>
      </p:sp>
      <p:graphicFrame>
        <p:nvGraphicFramePr>
          <p:cNvPr id="6" name="Table 5">
            <a:extLst>
              <a:ext uri="{FF2B5EF4-FFF2-40B4-BE49-F238E27FC236}">
                <a16:creationId xmlns:a16="http://schemas.microsoft.com/office/drawing/2014/main" id="{1FA44355-C2B5-D4A4-6D4B-D1D3EE1903A2}"/>
              </a:ext>
            </a:extLst>
          </p:cNvPr>
          <p:cNvGraphicFramePr>
            <a:graphicFrameLocks noGrp="1"/>
          </p:cNvGraphicFramePr>
          <p:nvPr>
            <p:extLst>
              <p:ext uri="{D42A27DB-BD31-4B8C-83A1-F6EECF244321}">
                <p14:modId xmlns:p14="http://schemas.microsoft.com/office/powerpoint/2010/main" val="3135943666"/>
              </p:ext>
            </p:extLst>
          </p:nvPr>
        </p:nvGraphicFramePr>
        <p:xfrm>
          <a:off x="7150100" y="3639708"/>
          <a:ext cx="4203700" cy="37084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699297581"/>
                    </a:ext>
                  </a:extLst>
                </a:gridCol>
                <a:gridCol w="1003300">
                  <a:extLst>
                    <a:ext uri="{9D8B030D-6E8A-4147-A177-3AD203B41FA5}">
                      <a16:colId xmlns:a16="http://schemas.microsoft.com/office/drawing/2014/main" val="3245603432"/>
                    </a:ext>
                  </a:extLst>
                </a:gridCol>
                <a:gridCol w="1130300">
                  <a:extLst>
                    <a:ext uri="{9D8B030D-6E8A-4147-A177-3AD203B41FA5}">
                      <a16:colId xmlns:a16="http://schemas.microsoft.com/office/drawing/2014/main" val="3868869410"/>
                    </a:ext>
                  </a:extLst>
                </a:gridCol>
                <a:gridCol w="1257300">
                  <a:extLst>
                    <a:ext uri="{9D8B030D-6E8A-4147-A177-3AD203B41FA5}">
                      <a16:colId xmlns:a16="http://schemas.microsoft.com/office/drawing/2014/main" val="1390845326"/>
                    </a:ext>
                  </a:extLst>
                </a:gridCol>
              </a:tblGrid>
              <a:tr h="370840">
                <a:tc>
                  <a:txBody>
                    <a:bodyPr/>
                    <a:lstStyle/>
                    <a:p>
                      <a:r>
                        <a:rPr lang="en-US" dirty="0"/>
                        <a:t>7 =m7</a:t>
                      </a:r>
                    </a:p>
                  </a:txBody>
                  <a:tcPr/>
                </a:tc>
                <a:tc>
                  <a:txBody>
                    <a:bodyPr/>
                    <a:lstStyle/>
                    <a:p>
                      <a:r>
                        <a:rPr lang="en-US" dirty="0"/>
                        <a:t>9 = M9</a:t>
                      </a:r>
                    </a:p>
                  </a:txBody>
                  <a:tcPr/>
                </a:tc>
                <a:tc>
                  <a:txBody>
                    <a:bodyPr/>
                    <a:lstStyle/>
                    <a:p>
                      <a:r>
                        <a:rPr lang="en-US" dirty="0"/>
                        <a:t>11 = P11</a:t>
                      </a:r>
                    </a:p>
                  </a:txBody>
                  <a:tcPr/>
                </a:tc>
                <a:tc>
                  <a:txBody>
                    <a:bodyPr/>
                    <a:lstStyle/>
                    <a:p>
                      <a:r>
                        <a:rPr lang="en-US" dirty="0"/>
                        <a:t>13 = M13</a:t>
                      </a:r>
                    </a:p>
                  </a:txBody>
                  <a:tcPr/>
                </a:tc>
                <a:extLst>
                  <a:ext uri="{0D108BD9-81ED-4DB2-BD59-A6C34878D82A}">
                    <a16:rowId xmlns:a16="http://schemas.microsoft.com/office/drawing/2014/main" val="4119527521"/>
                  </a:ext>
                </a:extLst>
              </a:tr>
            </a:tbl>
          </a:graphicData>
        </a:graphic>
      </p:graphicFrame>
      <p:pic>
        <p:nvPicPr>
          <p:cNvPr id="8" name="Picture 2" descr="annotations on a chord symbol Cm(add#11)/E♭">
            <a:extLst>
              <a:ext uri="{FF2B5EF4-FFF2-40B4-BE49-F238E27FC236}">
                <a16:creationId xmlns:a16="http://schemas.microsoft.com/office/drawing/2014/main" id="{9597138A-E7D7-A79C-D0FA-281BE6714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46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3534-4BF7-8387-F587-08819E014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84600-CC81-C0DE-C60E-38E80A9D3DC0}"/>
              </a:ext>
            </a:extLst>
          </p:cNvPr>
          <p:cNvSpPr>
            <a:spLocks noGrp="1"/>
          </p:cNvSpPr>
          <p:nvPr>
            <p:ph type="title"/>
          </p:nvPr>
        </p:nvSpPr>
        <p:spPr/>
        <p:txBody>
          <a:bodyPr>
            <a:normAutofit/>
          </a:bodyPr>
          <a:lstStyle/>
          <a:p>
            <a:r>
              <a:rPr lang="en-US" sz="3600" b="1" dirty="0"/>
              <a:t>MUS 223 • Literature and Materials of Music II</a:t>
            </a:r>
            <a:endParaRPr lang="en-US" sz="3800" b="1" dirty="0"/>
          </a:p>
        </p:txBody>
      </p:sp>
      <p:sp>
        <p:nvSpPr>
          <p:cNvPr id="3" name="Content Placeholder 2">
            <a:extLst>
              <a:ext uri="{FF2B5EF4-FFF2-40B4-BE49-F238E27FC236}">
                <a16:creationId xmlns:a16="http://schemas.microsoft.com/office/drawing/2014/main" id="{A2A254D8-4F11-7F97-0A91-A970C7F76A64}"/>
              </a:ext>
            </a:extLst>
          </p:cNvPr>
          <p:cNvSpPr>
            <a:spLocks noGrp="1"/>
          </p:cNvSpPr>
          <p:nvPr>
            <p:ph idx="1"/>
          </p:nvPr>
        </p:nvSpPr>
        <p:spPr>
          <a:xfrm>
            <a:off x="838199" y="2087330"/>
            <a:ext cx="10804071" cy="3113316"/>
          </a:xfrm>
        </p:spPr>
        <p:txBody>
          <a:bodyPr>
            <a:normAutofit/>
          </a:bodyPr>
          <a:lstStyle/>
          <a:p>
            <a:pPr marL="0" indent="0">
              <a:buNone/>
            </a:pPr>
            <a:r>
              <a:rPr lang="en-US" sz="2400" b="1" dirty="0">
                <a:latin typeface="+mj-lt"/>
              </a:rPr>
              <a:t>Today (Friday, May 8, 2026): Jazz Basics</a:t>
            </a:r>
          </a:p>
          <a:p>
            <a:pPr marL="1371600" indent="-457200">
              <a:buFont typeface="+mj-lt"/>
              <a:buAutoNum type="arabicPeriod"/>
            </a:pPr>
            <a:r>
              <a:rPr lang="en-US" sz="2400" dirty="0">
                <a:latin typeface="+mj-lt"/>
              </a:rPr>
              <a:t>Warm-up</a:t>
            </a:r>
            <a:endParaRPr lang="en-US" sz="2000" dirty="0">
              <a:latin typeface="+mj-lt"/>
            </a:endParaRPr>
          </a:p>
          <a:p>
            <a:pPr marL="1371600" indent="-457200">
              <a:buFont typeface="+mj-lt"/>
              <a:buAutoNum type="arabicPeriod"/>
            </a:pPr>
            <a:r>
              <a:rPr lang="en-US" sz="2400" dirty="0">
                <a:latin typeface="+mj-lt"/>
              </a:rPr>
              <a:t>Harmony </a:t>
            </a:r>
          </a:p>
          <a:p>
            <a:pPr marL="1828800" lvl="1" indent="-457200"/>
            <a:r>
              <a:rPr lang="en-US" sz="2000" dirty="0">
                <a:latin typeface="+mj-lt"/>
              </a:rPr>
              <a:t>Voicing</a:t>
            </a:r>
          </a:p>
          <a:p>
            <a:pPr marL="1371600" indent="-457200">
              <a:buFont typeface="+mj-lt"/>
              <a:buAutoNum type="arabicPeriod"/>
            </a:pPr>
            <a:r>
              <a:rPr lang="en-US" sz="2400" dirty="0">
                <a:latin typeface="+mj-lt"/>
              </a:rPr>
              <a:t>Analysis Practice </a:t>
            </a:r>
          </a:p>
        </p:txBody>
      </p:sp>
      <p:sp>
        <p:nvSpPr>
          <p:cNvPr id="4" name="TextBox 3">
            <a:extLst>
              <a:ext uri="{FF2B5EF4-FFF2-40B4-BE49-F238E27FC236}">
                <a16:creationId xmlns:a16="http://schemas.microsoft.com/office/drawing/2014/main" id="{D33233F2-EADD-3FFF-E08C-887B3F8CFED9}"/>
              </a:ext>
            </a:extLst>
          </p:cNvPr>
          <p:cNvSpPr txBox="1"/>
          <p:nvPr/>
        </p:nvSpPr>
        <p:spPr>
          <a:xfrm>
            <a:off x="838200" y="1428750"/>
            <a:ext cx="10804070" cy="461665"/>
          </a:xfrm>
          <a:prstGeom prst="rect">
            <a:avLst/>
          </a:prstGeom>
          <a:noFill/>
        </p:spPr>
        <p:txBody>
          <a:bodyPr wrap="square" rtlCol="0">
            <a:spAutoFit/>
          </a:bodyPr>
          <a:lstStyle/>
          <a:p>
            <a:pPr algn="r"/>
            <a:r>
              <a:rPr lang="en-US" sz="2400" dirty="0"/>
              <a:t>Now playing: “Livery Stable Blues,” Original Dixieland Jass Band (1917)</a:t>
            </a:r>
          </a:p>
        </p:txBody>
      </p:sp>
      <p:cxnSp>
        <p:nvCxnSpPr>
          <p:cNvPr id="13" name="Straight Connector 12">
            <a:extLst>
              <a:ext uri="{FF2B5EF4-FFF2-40B4-BE49-F238E27FC236}">
                <a16:creationId xmlns:a16="http://schemas.microsoft.com/office/drawing/2014/main" id="{42140BC4-16C1-A50F-8623-2E6D59B93952}"/>
              </a:ext>
            </a:extLst>
          </p:cNvPr>
          <p:cNvCxnSpPr/>
          <p:nvPr/>
        </p:nvCxnSpPr>
        <p:spPr>
          <a:xfrm>
            <a:off x="912019" y="5275262"/>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372F92-B310-936E-3591-87761BF74645}"/>
              </a:ext>
            </a:extLst>
          </p:cNvPr>
          <p:cNvCxnSpPr/>
          <p:nvPr/>
        </p:nvCxnSpPr>
        <p:spPr>
          <a:xfrm>
            <a:off x="912019" y="1943094"/>
            <a:ext cx="10367962" cy="0"/>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0A06C80-C8B2-89A9-C4E1-6D35F659FB9E}"/>
              </a:ext>
            </a:extLst>
          </p:cNvPr>
          <p:cNvSpPr txBox="1"/>
          <p:nvPr/>
        </p:nvSpPr>
        <p:spPr>
          <a:xfrm>
            <a:off x="838200" y="5200646"/>
            <a:ext cx="10515600" cy="830997"/>
          </a:xfrm>
          <a:prstGeom prst="rect">
            <a:avLst/>
          </a:prstGeom>
          <a:noFill/>
        </p:spPr>
        <p:txBody>
          <a:bodyPr wrap="square" rtlCol="0">
            <a:spAutoFit/>
          </a:bodyPr>
          <a:lstStyle/>
          <a:p>
            <a:r>
              <a:rPr lang="en-US" sz="2400" i="1" dirty="0">
                <a:latin typeface="Calibri Light" panose="020F0302020204030204" pitchFamily="34" charset="0"/>
                <a:ea typeface="Calibri Light" panose="020F0302020204030204" pitchFamily="34" charset="0"/>
                <a:cs typeface="Calibri Light" panose="020F0302020204030204" pitchFamily="34" charset="0"/>
              </a:rPr>
              <a:t>To do for next time:</a:t>
            </a:r>
          </a:p>
          <a:p>
            <a:pPr marL="914400" lvl="1" indent="-457200">
              <a:buFont typeface="+mj-lt"/>
              <a:buAutoNum type="arabicPeriod"/>
            </a:pPr>
            <a:r>
              <a:rPr lang="en-US" sz="2400" dirty="0">
                <a:latin typeface="Calibri Light" panose="020F0302020204030204" pitchFamily="34" charset="0"/>
                <a:ea typeface="Calibri Light" panose="020F0302020204030204" pitchFamily="34" charset="0"/>
                <a:cs typeface="Calibri Light" panose="020F0302020204030204" pitchFamily="34" charset="0"/>
              </a:rPr>
              <a:t>Homework #5 is due next </a:t>
            </a:r>
            <a:r>
              <a:rPr lang="en-US" sz="2400" b="1" spc="300" dirty="0">
                <a:solidFill>
                  <a:srgbClr val="0070C0"/>
                </a:solidFill>
                <a:ea typeface="Calibri Light" panose="020F0302020204030204" pitchFamily="34" charset="0"/>
                <a:cs typeface="Calibri Light" panose="020F0302020204030204" pitchFamily="34" charset="0"/>
              </a:rPr>
              <a:t>Monday</a:t>
            </a:r>
            <a:r>
              <a:rPr lang="en-US" sz="24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34332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A84AB53B-DE93-F9DA-2812-569A0FC10607}"/>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F4FAEE55-427A-B2D8-35D5-8ABE78BB4528}"/>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Practice</a:t>
            </a:r>
            <a:endParaRPr lang="en" b="0" dirty="0">
              <a:ea typeface="Yanone Kaffeesatz"/>
              <a:cs typeface="Yanone Kaffeesatz"/>
              <a:sym typeface="Yanone Kaffeesatz"/>
            </a:endParaRPr>
          </a:p>
        </p:txBody>
      </p:sp>
      <p:pic>
        <p:nvPicPr>
          <p:cNvPr id="8" name="Picture 2" descr="annotations on a chord symbol Cm(add#11)/E♭">
            <a:extLst>
              <a:ext uri="{FF2B5EF4-FFF2-40B4-BE49-F238E27FC236}">
                <a16:creationId xmlns:a16="http://schemas.microsoft.com/office/drawing/2014/main" id="{0C08C6F3-4368-67F5-7DD1-4A6D9C28A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This is a sequence of numbers: 6, 8, 9, 10, 6, 18, 28, 8.&#10;&#10;AI-generated content may be incorrect.">
            <a:extLst>
              <a:ext uri="{FF2B5EF4-FFF2-40B4-BE49-F238E27FC236}">
                <a16:creationId xmlns:a16="http://schemas.microsoft.com/office/drawing/2014/main" id="{B352A45D-C5AB-E0B8-5F93-75D1AECB6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100" y="1938357"/>
            <a:ext cx="7456194" cy="110609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his image appears to be a musical staff with notes placed above it, with numbers 26, 27, 28, and 29 possibly indicating the positions of these notes on the staff.&#10;&#10;AI-generated content may be incorrect.">
            <a:extLst>
              <a:ext uri="{FF2B5EF4-FFF2-40B4-BE49-F238E27FC236}">
                <a16:creationId xmlns:a16="http://schemas.microsoft.com/office/drawing/2014/main" id="{E73E6EF7-4C86-3377-0056-A3DC8AC7C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82" y="5149104"/>
            <a:ext cx="7677112" cy="110609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descr="The image appears to be a musical staff with notes and measures, including some numbers and a time signature.&#10;&#10;AI-generated content may be incorrect.">
            <a:extLst>
              <a:ext uri="{FF2B5EF4-FFF2-40B4-BE49-F238E27FC236}">
                <a16:creationId xmlns:a16="http://schemas.microsoft.com/office/drawing/2014/main" id="{8892C13A-B207-CEE1-0E7B-76CADE9C3A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093" y="3029371"/>
            <a:ext cx="7776208" cy="174466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6CA53DA9-C6F1-457D-A694-48810E5BDE5F}"/>
              </a:ext>
            </a:extLst>
          </p:cNvPr>
          <p:cNvSpPr>
            <a:spLocks noChangeArrowheads="1"/>
          </p:cNvSpPr>
          <p:nvPr/>
        </p:nvSpPr>
        <p:spPr bwMode="auto">
          <a:xfrm>
            <a:off x="331100" y="1364238"/>
            <a:ext cx="64479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Write the chord symbol for each harmony </a:t>
            </a:r>
            <a:r>
              <a:rPr kumimoji="0" lang="en-US" altLang="en-US" b="1"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above the staff</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5">
            <a:extLst>
              <a:ext uri="{FF2B5EF4-FFF2-40B4-BE49-F238E27FC236}">
                <a16:creationId xmlns:a16="http://schemas.microsoft.com/office/drawing/2014/main" id="{0867494B-6049-0D3D-35D4-E211D69D9E7B}"/>
              </a:ext>
            </a:extLst>
          </p:cNvPr>
          <p:cNvSpPr>
            <a:spLocks noChangeArrowheads="1"/>
          </p:cNvSpPr>
          <p:nvPr/>
        </p:nvSpPr>
        <p:spPr bwMode="auto">
          <a:xfrm>
            <a:off x="0" y="13398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6">
            <a:extLst>
              <a:ext uri="{FF2B5EF4-FFF2-40B4-BE49-F238E27FC236}">
                <a16:creationId xmlns:a16="http://schemas.microsoft.com/office/drawing/2014/main" id="{1FABA017-27F2-66B8-99C6-998C915A2FF5}"/>
              </a:ext>
            </a:extLst>
          </p:cNvPr>
          <p:cNvSpPr>
            <a:spLocks noChangeArrowheads="1"/>
          </p:cNvSpPr>
          <p:nvPr/>
        </p:nvSpPr>
        <p:spPr bwMode="auto">
          <a:xfrm>
            <a:off x="0" y="26543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AD95938C-B261-E75D-DAA2-D31E20A2D675}"/>
              </a:ext>
            </a:extLst>
          </p:cNvPr>
          <p:cNvSpPr txBox="1"/>
          <p:nvPr/>
        </p:nvSpPr>
        <p:spPr>
          <a:xfrm>
            <a:off x="8118394" y="2762337"/>
            <a:ext cx="3742506" cy="3970318"/>
          </a:xfrm>
          <a:prstGeom prst="rect">
            <a:avLst/>
          </a:prstGeom>
          <a:noFill/>
        </p:spPr>
        <p:txBody>
          <a:bodyPr wrap="square">
            <a:spAutoFit/>
          </a:bodyPr>
          <a:lstStyle/>
          <a:p>
            <a:r>
              <a:rPr lang="en-US" b="1" dirty="0">
                <a:solidFill>
                  <a:schemeClr val="accent5"/>
                </a:solidFill>
              </a:rPr>
              <a:t>Quality &amp; Alterations</a:t>
            </a:r>
            <a:r>
              <a:rPr lang="en-US" dirty="0"/>
              <a:t>: Assume default intervals for extensions:</a:t>
            </a:r>
          </a:p>
          <a:p>
            <a:endParaRPr lang="en-US" dirty="0"/>
          </a:p>
          <a:p>
            <a:endParaRPr lang="en-US" dirty="0"/>
          </a:p>
          <a:p>
            <a:endParaRPr lang="en-US" dirty="0"/>
          </a:p>
          <a:p>
            <a:r>
              <a:rPr lang="en-US" dirty="0"/>
              <a:t>Will use # and b to raise or lower regardless of actual accidentals.</a:t>
            </a:r>
          </a:p>
          <a:p>
            <a:endParaRPr lang="en-US" dirty="0"/>
          </a:p>
          <a:p>
            <a:r>
              <a:rPr lang="en-US" b="1" dirty="0">
                <a:solidFill>
                  <a:schemeClr val="accent2"/>
                </a:solidFill>
              </a:rPr>
              <a:t>Added Note &amp; Suspensions</a:t>
            </a:r>
            <a:r>
              <a:rPr lang="en-US" dirty="0"/>
              <a:t>: If no seventh or extensions are implied but notes beyond the triad are present. (</a:t>
            </a:r>
            <a:r>
              <a:rPr lang="en-US" i="1" dirty="0"/>
              <a:t>add 6, add 9</a:t>
            </a:r>
            <a:r>
              <a:rPr lang="en-US" dirty="0"/>
              <a:t>). Sus 2, sus 4 are common. Assume sus 4 if all you see is “sus”.</a:t>
            </a:r>
          </a:p>
        </p:txBody>
      </p:sp>
      <p:graphicFrame>
        <p:nvGraphicFramePr>
          <p:cNvPr id="10" name="Table 9">
            <a:extLst>
              <a:ext uri="{FF2B5EF4-FFF2-40B4-BE49-F238E27FC236}">
                <a16:creationId xmlns:a16="http://schemas.microsoft.com/office/drawing/2014/main" id="{2865584B-2ACD-5EAA-C62C-40E3D69BF39B}"/>
              </a:ext>
            </a:extLst>
          </p:cNvPr>
          <p:cNvGraphicFramePr>
            <a:graphicFrameLocks noGrp="1"/>
          </p:cNvGraphicFramePr>
          <p:nvPr>
            <p:extLst>
              <p:ext uri="{D42A27DB-BD31-4B8C-83A1-F6EECF244321}">
                <p14:modId xmlns:p14="http://schemas.microsoft.com/office/powerpoint/2010/main" val="1387650068"/>
              </p:ext>
            </p:extLst>
          </p:nvPr>
        </p:nvGraphicFramePr>
        <p:xfrm>
          <a:off x="8080294" y="3639708"/>
          <a:ext cx="4111705" cy="370840"/>
        </p:xfrm>
        <a:graphic>
          <a:graphicData uri="http://schemas.openxmlformats.org/drawingml/2006/table">
            <a:tbl>
              <a:tblPr firstRow="1" bandRow="1">
                <a:tableStyleId>{5940675A-B579-460E-94D1-54222C63F5DA}</a:tableStyleId>
              </a:tblPr>
              <a:tblGrid>
                <a:gridCol w="795012">
                  <a:extLst>
                    <a:ext uri="{9D8B030D-6E8A-4147-A177-3AD203B41FA5}">
                      <a16:colId xmlns:a16="http://schemas.microsoft.com/office/drawing/2014/main" val="699297581"/>
                    </a:ext>
                  </a:extLst>
                </a:gridCol>
                <a:gridCol w="981344">
                  <a:extLst>
                    <a:ext uri="{9D8B030D-6E8A-4147-A177-3AD203B41FA5}">
                      <a16:colId xmlns:a16="http://schemas.microsoft.com/office/drawing/2014/main" val="3245603432"/>
                    </a:ext>
                  </a:extLst>
                </a:gridCol>
                <a:gridCol w="1105564">
                  <a:extLst>
                    <a:ext uri="{9D8B030D-6E8A-4147-A177-3AD203B41FA5}">
                      <a16:colId xmlns:a16="http://schemas.microsoft.com/office/drawing/2014/main" val="3868869410"/>
                    </a:ext>
                  </a:extLst>
                </a:gridCol>
                <a:gridCol w="1229785">
                  <a:extLst>
                    <a:ext uri="{9D8B030D-6E8A-4147-A177-3AD203B41FA5}">
                      <a16:colId xmlns:a16="http://schemas.microsoft.com/office/drawing/2014/main" val="1390845326"/>
                    </a:ext>
                  </a:extLst>
                </a:gridCol>
              </a:tblGrid>
              <a:tr h="370840">
                <a:tc>
                  <a:txBody>
                    <a:bodyPr/>
                    <a:lstStyle/>
                    <a:p>
                      <a:r>
                        <a:rPr lang="en-US" dirty="0"/>
                        <a:t>7 =m7</a:t>
                      </a:r>
                    </a:p>
                  </a:txBody>
                  <a:tcPr/>
                </a:tc>
                <a:tc>
                  <a:txBody>
                    <a:bodyPr/>
                    <a:lstStyle/>
                    <a:p>
                      <a:r>
                        <a:rPr lang="en-US" dirty="0"/>
                        <a:t>9 = M9</a:t>
                      </a:r>
                    </a:p>
                  </a:txBody>
                  <a:tcPr/>
                </a:tc>
                <a:tc>
                  <a:txBody>
                    <a:bodyPr/>
                    <a:lstStyle/>
                    <a:p>
                      <a:r>
                        <a:rPr lang="en-US" dirty="0"/>
                        <a:t>11 = P11</a:t>
                      </a:r>
                    </a:p>
                  </a:txBody>
                  <a:tcPr/>
                </a:tc>
                <a:tc>
                  <a:txBody>
                    <a:bodyPr/>
                    <a:lstStyle/>
                    <a:p>
                      <a:r>
                        <a:rPr lang="en-US" dirty="0"/>
                        <a:t>13 = M13</a:t>
                      </a:r>
                    </a:p>
                  </a:txBody>
                  <a:tcPr/>
                </a:tc>
                <a:extLst>
                  <a:ext uri="{0D108BD9-81ED-4DB2-BD59-A6C34878D82A}">
                    <a16:rowId xmlns:a16="http://schemas.microsoft.com/office/drawing/2014/main" val="4119527521"/>
                  </a:ext>
                </a:extLst>
              </a:tr>
            </a:tbl>
          </a:graphicData>
        </a:graphic>
      </p:graphicFrame>
    </p:spTree>
    <p:extLst>
      <p:ext uri="{BB962C8B-B14F-4D97-AF65-F5344CB8AC3E}">
        <p14:creationId xmlns:p14="http://schemas.microsoft.com/office/powerpoint/2010/main" val="1392278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F7724505-47DE-E5C9-6742-4F77117A796F}"/>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A9E57953-3FA5-3509-E1FF-0AF1C0C7F372}"/>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BFE5F534-153A-C746-71D8-E71A6D749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9429E1E-6D7C-2642-640A-405279BD63B9}"/>
              </a:ext>
            </a:extLst>
          </p:cNvPr>
          <p:cNvSpPr txBox="1"/>
          <p:nvPr/>
        </p:nvSpPr>
        <p:spPr>
          <a:xfrm>
            <a:off x="464457" y="1568190"/>
            <a:ext cx="7592328" cy="3600986"/>
          </a:xfrm>
          <a:prstGeom prst="rect">
            <a:avLst/>
          </a:prstGeom>
          <a:noFill/>
        </p:spPr>
        <p:txBody>
          <a:bodyPr wrap="square" rtlCol="0">
            <a:spAutoFit/>
          </a:bodyPr>
          <a:lstStyle/>
          <a:p>
            <a:pPr algn="ctr"/>
            <a:r>
              <a:rPr lang="en-US" sz="2400" dirty="0"/>
              <a:t>Basics of Jazz Voicing </a:t>
            </a:r>
            <a:r>
              <a:rPr lang="en-US" sz="2400" i="1" dirty="0"/>
              <a:t>(~voice leading in a keyboard style~)</a:t>
            </a:r>
          </a:p>
          <a:p>
            <a:endParaRPr lang="en-US" i="1" dirty="0"/>
          </a:p>
          <a:p>
            <a:pPr marL="285750" indent="-285750">
              <a:buFont typeface="Arial" panose="020B0604020202020204" pitchFamily="34" charset="0"/>
              <a:buChar char="•"/>
            </a:pPr>
            <a:r>
              <a:rPr lang="en-US" dirty="0"/>
              <a:t>Space chords to mimic the spacing of the harmonic series: use large, wide intervals in lower registers, and smaller, closer intervals in upper registers.</a:t>
            </a:r>
          </a:p>
          <a:p>
            <a:pPr marL="285750" indent="-285750">
              <a:buFont typeface="Arial" panose="020B0604020202020204" pitchFamily="34" charset="0"/>
              <a:buChar char="•"/>
            </a:pPr>
            <a:r>
              <a:rPr lang="en-US" dirty="0"/>
              <a:t>Extensions should be voiced in the higher voices.</a:t>
            </a:r>
          </a:p>
          <a:p>
            <a:pPr marL="285750" indent="-285750">
              <a:buFont typeface="Arial" panose="020B0604020202020204" pitchFamily="34" charset="0"/>
              <a:buChar char="•"/>
            </a:pPr>
            <a:r>
              <a:rPr lang="en-US" dirty="0"/>
              <a:t>If you double a note, usually double either the bass or the root.</a:t>
            </a:r>
          </a:p>
          <a:p>
            <a:pPr marL="285750" indent="-285750">
              <a:buFont typeface="Arial" panose="020B0604020202020204" pitchFamily="34" charset="0"/>
              <a:buChar char="•"/>
            </a:pPr>
            <a:r>
              <a:rPr lang="en-US" dirty="0"/>
              <a:t>You can always get away with omitting the fifth.</a:t>
            </a:r>
          </a:p>
          <a:p>
            <a:pPr marL="285750" indent="-285750">
              <a:buFont typeface="Arial" panose="020B0604020202020204" pitchFamily="34" charset="0"/>
              <a:buChar char="•"/>
            </a:pPr>
            <a:r>
              <a:rPr lang="en-US" dirty="0"/>
              <a:t>Use smooth or “lazy” voice leading: move each voice as little as possible between chords to achieve a smooth, easy-to-perform sound. </a:t>
            </a:r>
          </a:p>
          <a:p>
            <a:pPr marL="742950" lvl="1" indent="-285750">
              <a:buFont typeface="Arial" panose="020B0604020202020204" pitchFamily="34" charset="0"/>
              <a:buChar char="•"/>
            </a:pPr>
            <a:r>
              <a:rPr lang="en-US" sz="1200" i="1" dirty="0"/>
              <a:t>A common smooth voice-leading schema in jazz is to lead from the third of one chord to the seventh of the next, while another line connects the ninth of the first chord to the thirteenth of the second chord.</a:t>
            </a:r>
          </a:p>
          <a:p>
            <a:pPr lvl="2"/>
            <a:r>
              <a:rPr lang="en-US" dirty="0"/>
              <a:t>	</a:t>
            </a:r>
            <a:r>
              <a:rPr lang="en-US" sz="1600" dirty="0"/>
              <a:t>3</a:t>
            </a:r>
            <a:r>
              <a:rPr lang="en-US" sz="1600" baseline="30000" dirty="0"/>
              <a:t>rd</a:t>
            </a:r>
            <a:r>
              <a:rPr lang="en-US" sz="1600" dirty="0"/>
              <a:t> → 7</a:t>
            </a:r>
            <a:r>
              <a:rPr lang="en-US" sz="1600" baseline="30000" dirty="0"/>
              <a:t>th</a:t>
            </a:r>
            <a:r>
              <a:rPr lang="en-US" sz="1600" dirty="0"/>
              <a:t> </a:t>
            </a:r>
            <a:br>
              <a:rPr lang="en-US" sz="1600" dirty="0"/>
            </a:br>
            <a:r>
              <a:rPr lang="en-US" sz="1600" dirty="0"/>
              <a:t>    	9</a:t>
            </a:r>
            <a:r>
              <a:rPr lang="en-US" sz="1600" baseline="30000" dirty="0"/>
              <a:t>th</a:t>
            </a:r>
            <a:r>
              <a:rPr lang="en-US" sz="1600" dirty="0"/>
              <a:t> → 13</a:t>
            </a:r>
            <a:r>
              <a:rPr lang="en-US" sz="1600" baseline="30000" dirty="0"/>
              <a:t>th</a:t>
            </a:r>
            <a:r>
              <a:rPr lang="en-US" sz="1600" dirty="0"/>
              <a:t>  </a:t>
            </a:r>
            <a:endParaRPr lang="en-US" dirty="0"/>
          </a:p>
        </p:txBody>
      </p:sp>
    </p:spTree>
    <p:extLst>
      <p:ext uri="{BB962C8B-B14F-4D97-AF65-F5344CB8AC3E}">
        <p14:creationId xmlns:p14="http://schemas.microsoft.com/office/powerpoint/2010/main" val="1757162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6ACE75D1-DFE4-1BE0-4D97-9D0B3F7137DF}"/>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0A80836B-8431-0E74-2C69-C99193EF717B}"/>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DACB33F2-2917-96E2-A5A7-17C9F8738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A1F88A0-04D5-F1C0-6D52-8C79CC8B3292}"/>
              </a:ext>
            </a:extLst>
          </p:cNvPr>
          <p:cNvSpPr txBox="1"/>
          <p:nvPr/>
        </p:nvSpPr>
        <p:spPr>
          <a:xfrm>
            <a:off x="464457" y="1568190"/>
            <a:ext cx="7592328" cy="461665"/>
          </a:xfrm>
          <a:prstGeom prst="rect">
            <a:avLst/>
          </a:prstGeom>
          <a:noFill/>
        </p:spPr>
        <p:txBody>
          <a:bodyPr wrap="square" rtlCol="0">
            <a:spAutoFit/>
          </a:bodyPr>
          <a:lstStyle/>
          <a:p>
            <a:pPr algn="ctr"/>
            <a:r>
              <a:rPr lang="en-US" sz="2400" dirty="0"/>
              <a:t>Basics of Jazz Voicing </a:t>
            </a:r>
            <a:r>
              <a:rPr lang="en-US" sz="2400" i="1" dirty="0"/>
              <a:t>(~voice leading in a keyboard style~)</a:t>
            </a:r>
          </a:p>
        </p:txBody>
      </p:sp>
      <p:pic>
        <p:nvPicPr>
          <p:cNvPr id="4" name="Picture 3" descr="The image depicts a sequence of musical chords with variations, specifically focusing on the alterations of sevenths and roots in a G7 chord progression, and how these alterations affect dissonance and chord identity.&#10;&#10;AI-generated content may be incorrect.">
            <a:extLst>
              <a:ext uri="{FF2B5EF4-FFF2-40B4-BE49-F238E27FC236}">
                <a16:creationId xmlns:a16="http://schemas.microsoft.com/office/drawing/2014/main" id="{D3505029-AA0A-264C-FEB9-716D1995D2CD}"/>
              </a:ext>
            </a:extLst>
          </p:cNvPr>
          <p:cNvPicPr>
            <a:picLocks noChangeAspect="1"/>
          </p:cNvPicPr>
          <p:nvPr/>
        </p:nvPicPr>
        <p:blipFill>
          <a:blip r:embed="rId4"/>
          <a:stretch>
            <a:fillRect/>
          </a:stretch>
        </p:blipFill>
        <p:spPr>
          <a:xfrm>
            <a:off x="654428" y="2766381"/>
            <a:ext cx="10259857" cy="3038899"/>
          </a:xfrm>
          <a:prstGeom prst="rect">
            <a:avLst/>
          </a:prstGeom>
        </p:spPr>
      </p:pic>
    </p:spTree>
    <p:extLst>
      <p:ext uri="{BB962C8B-B14F-4D97-AF65-F5344CB8AC3E}">
        <p14:creationId xmlns:p14="http://schemas.microsoft.com/office/powerpoint/2010/main" val="1682416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97CA85FD-A0A9-2AE3-D9AD-99F245CAE958}"/>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AD37F33F-595C-C609-42CD-8635F1418CAB}"/>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5060E837-10B4-958E-9016-0A8FEB9AD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72EA564-971F-B178-8BF1-59015C3813EB}"/>
              </a:ext>
            </a:extLst>
          </p:cNvPr>
          <p:cNvSpPr txBox="1"/>
          <p:nvPr/>
        </p:nvSpPr>
        <p:spPr>
          <a:xfrm>
            <a:off x="464457" y="1568190"/>
            <a:ext cx="7592328" cy="1831271"/>
          </a:xfrm>
          <a:prstGeom prst="rect">
            <a:avLst/>
          </a:prstGeom>
          <a:noFill/>
        </p:spPr>
        <p:txBody>
          <a:bodyPr wrap="square" rtlCol="0">
            <a:spAutoFit/>
          </a:bodyPr>
          <a:lstStyle/>
          <a:p>
            <a:pPr algn="ctr"/>
            <a:r>
              <a:rPr lang="en-US" sz="2400" dirty="0"/>
              <a:t>Jazz Voicing Paradigms (3–7 with extensions) </a:t>
            </a:r>
          </a:p>
          <a:p>
            <a:pPr algn="ctr"/>
            <a:r>
              <a:rPr lang="en-US" sz="2400" i="1" dirty="0"/>
              <a:t>~2 voices in RH~</a:t>
            </a:r>
          </a:p>
          <a:p>
            <a:endParaRPr lang="en-US" sz="1100" i="1" dirty="0"/>
          </a:p>
          <a:p>
            <a:pPr marL="285750" indent="-285750">
              <a:buFont typeface="Arial" panose="020B0604020202020204" pitchFamily="34" charset="0"/>
              <a:buChar char="•"/>
            </a:pPr>
            <a:r>
              <a:rPr lang="en-US" dirty="0"/>
              <a:t>If only 3 voices total. It’s important to add extensions. A good trick is to have only the R, 3</a:t>
            </a:r>
            <a:r>
              <a:rPr lang="en-US" baseline="30000" dirty="0"/>
              <a:t>rd</a:t>
            </a:r>
            <a:r>
              <a:rPr lang="en-US" dirty="0"/>
              <a:t>, and 7</a:t>
            </a:r>
            <a:r>
              <a:rPr lang="en-US" baseline="30000" dirty="0"/>
              <a:t>th</a:t>
            </a:r>
            <a:r>
              <a:rPr lang="en-US" dirty="0"/>
              <a:t> of the chord. When roots move by fifth, they can lead into their opposites.</a:t>
            </a:r>
          </a:p>
        </p:txBody>
      </p:sp>
      <p:pic>
        <p:nvPicPr>
          <p:cNvPr id="4" name="Picture 3">
            <a:extLst>
              <a:ext uri="{FF2B5EF4-FFF2-40B4-BE49-F238E27FC236}">
                <a16:creationId xmlns:a16="http://schemas.microsoft.com/office/drawing/2014/main" id="{439254D1-7BDA-D5FC-9B30-986DEF9CE497}"/>
              </a:ext>
            </a:extLst>
          </p:cNvPr>
          <p:cNvPicPr>
            <a:picLocks noChangeAspect="1"/>
          </p:cNvPicPr>
          <p:nvPr/>
        </p:nvPicPr>
        <p:blipFill>
          <a:blip r:embed="rId4"/>
          <a:stretch>
            <a:fillRect/>
          </a:stretch>
        </p:blipFill>
        <p:spPr>
          <a:xfrm>
            <a:off x="1524474" y="3395580"/>
            <a:ext cx="9285999" cy="1894230"/>
          </a:xfrm>
          <a:prstGeom prst="rect">
            <a:avLst/>
          </a:prstGeom>
        </p:spPr>
      </p:pic>
    </p:spTree>
    <p:extLst>
      <p:ext uri="{BB962C8B-B14F-4D97-AF65-F5344CB8AC3E}">
        <p14:creationId xmlns:p14="http://schemas.microsoft.com/office/powerpoint/2010/main" val="4281375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7FC71486-B334-EF31-729F-CE3C1BE7C33A}"/>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0D66E2D8-E79F-B508-9947-85FD7DA4179F}"/>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6" name="Picture 2" descr="annotations on a chord symbol Cm(add#11)/E♭">
            <a:extLst>
              <a:ext uri="{FF2B5EF4-FFF2-40B4-BE49-F238E27FC236}">
                <a16:creationId xmlns:a16="http://schemas.microsoft.com/office/drawing/2014/main" id="{315EC401-BF9F-B94F-DA22-49E3CF9E8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785" y="448095"/>
            <a:ext cx="2857500" cy="21240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176226-FB84-54C8-7499-035AE564637E}"/>
              </a:ext>
            </a:extLst>
          </p:cNvPr>
          <p:cNvSpPr txBox="1"/>
          <p:nvPr/>
        </p:nvSpPr>
        <p:spPr>
          <a:xfrm>
            <a:off x="464457" y="1568190"/>
            <a:ext cx="7592328" cy="1831271"/>
          </a:xfrm>
          <a:prstGeom prst="rect">
            <a:avLst/>
          </a:prstGeom>
          <a:noFill/>
        </p:spPr>
        <p:txBody>
          <a:bodyPr wrap="square" rtlCol="0">
            <a:spAutoFit/>
          </a:bodyPr>
          <a:lstStyle/>
          <a:p>
            <a:pPr algn="ctr"/>
            <a:r>
              <a:rPr lang="en-US" sz="2400" dirty="0"/>
              <a:t>Jazz Voicing Paradigms (3–7) </a:t>
            </a:r>
          </a:p>
          <a:p>
            <a:pPr algn="ctr"/>
            <a:r>
              <a:rPr lang="en-US" sz="2400" i="1" dirty="0"/>
              <a:t>~3 voices in RH~</a:t>
            </a:r>
          </a:p>
          <a:p>
            <a:endParaRPr lang="en-US" sz="1100" i="1" dirty="0"/>
          </a:p>
          <a:p>
            <a:pPr marL="285750" indent="-285750">
              <a:buFont typeface="Arial" panose="020B0604020202020204" pitchFamily="34" charset="0"/>
              <a:buChar char="•"/>
            </a:pPr>
            <a:r>
              <a:rPr lang="en-US" dirty="0"/>
              <a:t>If only 4 voices total. A good trick is to start with the R, 3</a:t>
            </a:r>
            <a:r>
              <a:rPr lang="en-US" baseline="30000" dirty="0"/>
              <a:t>rd</a:t>
            </a:r>
            <a:r>
              <a:rPr lang="en-US" dirty="0"/>
              <a:t>, and 7</a:t>
            </a:r>
            <a:r>
              <a:rPr lang="en-US" baseline="30000" dirty="0"/>
              <a:t>th</a:t>
            </a:r>
            <a:r>
              <a:rPr lang="en-US" dirty="0"/>
              <a:t> of the chord (as before). Now add an extended tone, usually the 9</a:t>
            </a:r>
            <a:r>
              <a:rPr lang="en-US" baseline="30000" dirty="0"/>
              <a:t>th</a:t>
            </a:r>
            <a:r>
              <a:rPr lang="en-US" dirty="0"/>
              <a:t> or the 13</a:t>
            </a:r>
            <a:r>
              <a:rPr lang="en-US" baseline="30000" dirty="0"/>
              <a:t>th</a:t>
            </a:r>
            <a:r>
              <a:rPr lang="en-US" dirty="0"/>
              <a:t>.  When roots move by fifth, 9</a:t>
            </a:r>
            <a:r>
              <a:rPr lang="en-US" baseline="30000" dirty="0"/>
              <a:t>ths </a:t>
            </a:r>
            <a:r>
              <a:rPr lang="en-US" dirty="0"/>
              <a:t>will become 13</a:t>
            </a:r>
            <a:r>
              <a:rPr lang="en-US" baseline="30000" dirty="0"/>
              <a:t>ths</a:t>
            </a:r>
            <a:r>
              <a:rPr lang="en-US" dirty="0"/>
              <a:t> and vice versa.</a:t>
            </a:r>
          </a:p>
        </p:txBody>
      </p:sp>
      <p:pic>
        <p:nvPicPr>
          <p:cNvPr id="5" name="Picture 4">
            <a:extLst>
              <a:ext uri="{FF2B5EF4-FFF2-40B4-BE49-F238E27FC236}">
                <a16:creationId xmlns:a16="http://schemas.microsoft.com/office/drawing/2014/main" id="{738BF96F-3CF6-EAAA-11C0-6C91EBED63F7}"/>
              </a:ext>
            </a:extLst>
          </p:cNvPr>
          <p:cNvPicPr>
            <a:picLocks noChangeAspect="1"/>
          </p:cNvPicPr>
          <p:nvPr/>
        </p:nvPicPr>
        <p:blipFill>
          <a:blip r:embed="rId4"/>
          <a:stretch>
            <a:fillRect/>
          </a:stretch>
        </p:blipFill>
        <p:spPr>
          <a:xfrm>
            <a:off x="1703602" y="3692265"/>
            <a:ext cx="8784795" cy="2577906"/>
          </a:xfrm>
          <a:prstGeom prst="rect">
            <a:avLst/>
          </a:prstGeom>
        </p:spPr>
      </p:pic>
    </p:spTree>
    <p:extLst>
      <p:ext uri="{BB962C8B-B14F-4D97-AF65-F5344CB8AC3E}">
        <p14:creationId xmlns:p14="http://schemas.microsoft.com/office/powerpoint/2010/main" val="877791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E5C8D25A-D733-A038-A85D-A5937C7D365B}"/>
            </a:ext>
          </a:extLst>
        </p:cNvPr>
        <p:cNvGrpSpPr/>
        <p:nvPr/>
      </p:nvGrpSpPr>
      <p:grpSpPr>
        <a:xfrm>
          <a:off x="0" y="0"/>
          <a:ext cx="0" cy="0"/>
          <a:chOff x="0" y="0"/>
          <a:chExt cx="0" cy="0"/>
        </a:xfrm>
      </p:grpSpPr>
      <p:sp>
        <p:nvSpPr>
          <p:cNvPr id="165" name="Shape 165">
            <a:extLst>
              <a:ext uri="{FF2B5EF4-FFF2-40B4-BE49-F238E27FC236}">
                <a16:creationId xmlns:a16="http://schemas.microsoft.com/office/drawing/2014/main" id="{E43CCC02-1571-924C-D045-551928225994}"/>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9" name="Picture 8" descr="The image displays a musical score with a series of chord symbols (GM7, Db7, C7, F6) and a note indicating that the first chord is unvoiced.&#10;&#10;AI-generated content may be incorrect.">
            <a:extLst>
              <a:ext uri="{FF2B5EF4-FFF2-40B4-BE49-F238E27FC236}">
                <a16:creationId xmlns:a16="http://schemas.microsoft.com/office/drawing/2014/main" id="{F269ED4F-0C42-C1ED-AF2B-3628919FAF69}"/>
              </a:ext>
            </a:extLst>
          </p:cNvPr>
          <p:cNvPicPr>
            <a:picLocks noChangeAspect="1"/>
          </p:cNvPicPr>
          <p:nvPr/>
        </p:nvPicPr>
        <p:blipFill>
          <a:blip r:embed="rId3"/>
          <a:stretch>
            <a:fillRect/>
          </a:stretch>
        </p:blipFill>
        <p:spPr>
          <a:xfrm>
            <a:off x="628649" y="1791358"/>
            <a:ext cx="10277475" cy="3463225"/>
          </a:xfrm>
          <a:prstGeom prst="rect">
            <a:avLst/>
          </a:prstGeom>
        </p:spPr>
      </p:pic>
    </p:spTree>
    <p:extLst>
      <p:ext uri="{BB962C8B-B14F-4D97-AF65-F5344CB8AC3E}">
        <p14:creationId xmlns:p14="http://schemas.microsoft.com/office/powerpoint/2010/main" val="3804464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8B005099-2C90-1ADD-DD6D-9D2144FED059}"/>
            </a:ext>
          </a:extLst>
        </p:cNvPr>
        <p:cNvGrpSpPr/>
        <p:nvPr/>
      </p:nvGrpSpPr>
      <p:grpSpPr>
        <a:xfrm>
          <a:off x="0" y="0"/>
          <a:ext cx="0" cy="0"/>
          <a:chOff x="0" y="0"/>
          <a:chExt cx="0" cy="0"/>
        </a:xfrm>
      </p:grpSpPr>
      <p:pic>
        <p:nvPicPr>
          <p:cNvPr id="2" name="Picture 2" descr="Indiana (Back Home Again In Indiana) by Ballard Macdonald Voice - Digital Sheet Music">
            <a:extLst>
              <a:ext uri="{FF2B5EF4-FFF2-40B4-BE49-F238E27FC236}">
                <a16:creationId xmlns:a16="http://schemas.microsoft.com/office/drawing/2014/main" id="{BA479F3C-6645-D49E-27CB-19B26711FF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318" b="76569"/>
          <a:stretch>
            <a:fillRect/>
          </a:stretch>
        </p:blipFill>
        <p:spPr bwMode="auto">
          <a:xfrm>
            <a:off x="2184967" y="1407659"/>
            <a:ext cx="8103038" cy="10597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n empty sheet of paper with horizontal lines representing lines for writing.&#10;&#10;AI-generated content may be incorrect.">
            <a:extLst>
              <a:ext uri="{FF2B5EF4-FFF2-40B4-BE49-F238E27FC236}">
                <a16:creationId xmlns:a16="http://schemas.microsoft.com/office/drawing/2014/main" id="{3BACEBE9-1BFE-5F47-D6BE-3CB60493CD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603" y="2550859"/>
            <a:ext cx="7469772" cy="1200984"/>
          </a:xfrm>
          <a:prstGeom prst="rect">
            <a:avLst/>
          </a:prstGeom>
        </p:spPr>
      </p:pic>
      <p:sp>
        <p:nvSpPr>
          <p:cNvPr id="165" name="Shape 165">
            <a:extLst>
              <a:ext uri="{FF2B5EF4-FFF2-40B4-BE49-F238E27FC236}">
                <a16:creationId xmlns:a16="http://schemas.microsoft.com/office/drawing/2014/main" id="{F09C5D8F-8A39-7399-9992-436074E21AF8}"/>
              </a:ext>
            </a:extLst>
          </p:cNvPr>
          <p:cNvSpPr txBox="1">
            <a:spLocks noGrp="1"/>
          </p:cNvSpPr>
          <p:nvPr>
            <p:ph type="title" idx="4294967295"/>
          </p:nvPr>
        </p:nvSpPr>
        <p:spPr>
          <a:xfrm>
            <a:off x="331100" y="366933"/>
            <a:ext cx="6946000" cy="1143200"/>
          </a:xfrm>
          <a:prstGeom prst="rect">
            <a:avLst/>
          </a:prstGeom>
        </p:spPr>
        <p:txBody>
          <a:bodyPr vert="horz" lIns="121900" tIns="121900" rIns="121900" bIns="121900" rtlCol="0" anchor="ctr" anchorCtr="0">
            <a:noAutofit/>
          </a:bodyPr>
          <a:lstStyle/>
          <a:p>
            <a:pPr>
              <a:spcBef>
                <a:spcPts val="0"/>
              </a:spcBef>
            </a:pPr>
            <a:r>
              <a:rPr lang="en-US" sz="3200" dirty="0">
                <a:ea typeface="Yanone Kaffeesatz"/>
                <a:cs typeface="Yanone Kaffeesatz"/>
                <a:sym typeface="Yanone Kaffeesatz"/>
              </a:rPr>
              <a:t>Harmony: Voicing</a:t>
            </a:r>
            <a:endParaRPr lang="en" b="0" dirty="0">
              <a:ea typeface="Yanone Kaffeesatz"/>
              <a:cs typeface="Yanone Kaffeesatz"/>
              <a:sym typeface="Yanone Kaffeesatz"/>
            </a:endParaRPr>
          </a:p>
        </p:txBody>
      </p:sp>
      <p:pic>
        <p:nvPicPr>
          <p:cNvPr id="2050" name="Picture 2" descr="Indiana (Back Home Again In Indiana) by Ballard Macdonald Voice - Digital Sheet Music">
            <a:extLst>
              <a:ext uri="{FF2B5EF4-FFF2-40B4-BE49-F238E27FC236}">
                <a16:creationId xmlns:a16="http://schemas.microsoft.com/office/drawing/2014/main" id="{897CE404-815D-5459-08AB-1C9327B422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5965"/>
          <a:stretch>
            <a:fillRect/>
          </a:stretch>
        </p:blipFill>
        <p:spPr bwMode="auto">
          <a:xfrm>
            <a:off x="4092575" y="1"/>
            <a:ext cx="5302250" cy="9625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ndiana (Back Home Again In Indiana) by Ballard Macdonald Voice - Digital Sheet Music">
            <a:extLst>
              <a:ext uri="{FF2B5EF4-FFF2-40B4-BE49-F238E27FC236}">
                <a16:creationId xmlns:a16="http://schemas.microsoft.com/office/drawing/2014/main" id="{82486239-CEC1-BC35-D00B-DC79DDE33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1" t="23961" r="-551" b="65926"/>
          <a:stretch>
            <a:fillRect/>
          </a:stretch>
        </p:blipFill>
        <p:spPr bwMode="auto">
          <a:xfrm>
            <a:off x="2184966" y="3868697"/>
            <a:ext cx="8103038" cy="10597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n empty sheet of paper with horizontal lines representing lines for writing.&#10;&#10;AI-generated content may be incorrect.">
            <a:extLst>
              <a:ext uri="{FF2B5EF4-FFF2-40B4-BE49-F238E27FC236}">
                <a16:creationId xmlns:a16="http://schemas.microsoft.com/office/drawing/2014/main" id="{5BE1EE21-5B45-51E8-00F3-244BFB7FEF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603" y="5045350"/>
            <a:ext cx="7469772" cy="1200984"/>
          </a:xfrm>
          <a:prstGeom prst="rect">
            <a:avLst/>
          </a:prstGeom>
        </p:spPr>
      </p:pic>
    </p:spTree>
    <p:extLst>
      <p:ext uri="{BB962C8B-B14F-4D97-AF65-F5344CB8AC3E}">
        <p14:creationId xmlns:p14="http://schemas.microsoft.com/office/powerpoint/2010/main" val="17046202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6814C6F4-B2C2-2C4C-3AB8-B69CDD8B5866}"/>
            </a:ext>
          </a:extLst>
        </p:cNvPr>
        <p:cNvGrpSpPr/>
        <p:nvPr/>
      </p:nvGrpSpPr>
      <p:grpSpPr>
        <a:xfrm>
          <a:off x="0" y="0"/>
          <a:ext cx="0" cy="0"/>
          <a:chOff x="0" y="0"/>
          <a:chExt cx="0" cy="0"/>
        </a:xfrm>
      </p:grpSpPr>
      <p:pic>
        <p:nvPicPr>
          <p:cNvPr id="5" name="Picture 4" descr="The image shows sheet music with musical notation, including a melody line, chords, and a snippet of text, possibly lyrics, suggesting a song or piece of music.&#10;&#10;AI-generated content may be incorrect.">
            <a:extLst>
              <a:ext uri="{FF2B5EF4-FFF2-40B4-BE49-F238E27FC236}">
                <a16:creationId xmlns:a16="http://schemas.microsoft.com/office/drawing/2014/main" id="{61B84593-3857-6773-6F73-A4B2E7F5A5AD}"/>
              </a:ext>
            </a:extLst>
          </p:cNvPr>
          <p:cNvPicPr>
            <a:picLocks noChangeAspect="1"/>
          </p:cNvPicPr>
          <p:nvPr/>
        </p:nvPicPr>
        <p:blipFill>
          <a:blip r:embed="rId3"/>
          <a:stretch>
            <a:fillRect/>
          </a:stretch>
        </p:blipFill>
        <p:spPr>
          <a:xfrm>
            <a:off x="4685337" y="0"/>
            <a:ext cx="7175563" cy="6858000"/>
          </a:xfrm>
          <a:prstGeom prst="rect">
            <a:avLst/>
          </a:prstGeom>
        </p:spPr>
      </p:pic>
      <p:sp>
        <p:nvSpPr>
          <p:cNvPr id="8" name="TextBox 7">
            <a:extLst>
              <a:ext uri="{FF2B5EF4-FFF2-40B4-BE49-F238E27FC236}">
                <a16:creationId xmlns:a16="http://schemas.microsoft.com/office/drawing/2014/main" id="{52A59980-D2DD-3BB3-6766-72893E4A8799}"/>
              </a:ext>
            </a:extLst>
          </p:cNvPr>
          <p:cNvSpPr txBox="1"/>
          <p:nvPr/>
        </p:nvSpPr>
        <p:spPr>
          <a:xfrm>
            <a:off x="0" y="0"/>
            <a:ext cx="4685337" cy="738664"/>
          </a:xfrm>
          <a:prstGeom prst="rect">
            <a:avLst/>
          </a:prstGeom>
          <a:noFill/>
        </p:spPr>
        <p:txBody>
          <a:bodyPr wrap="square" rtlCol="0">
            <a:spAutoFit/>
          </a:bodyPr>
          <a:lstStyle/>
          <a:p>
            <a:pPr algn="ctr"/>
            <a:r>
              <a:rPr lang="en-US" sz="2400" dirty="0"/>
              <a:t>“Don’t Get Around Much Anymore”</a:t>
            </a:r>
            <a:endParaRPr lang="en-US" sz="1100" i="1" dirty="0"/>
          </a:p>
          <a:p>
            <a:pPr algn="ctr"/>
            <a:r>
              <a:rPr lang="en-US" dirty="0"/>
              <a:t>Duke Ellington</a:t>
            </a:r>
          </a:p>
        </p:txBody>
      </p:sp>
    </p:spTree>
    <p:extLst>
      <p:ext uri="{BB962C8B-B14F-4D97-AF65-F5344CB8AC3E}">
        <p14:creationId xmlns:p14="http://schemas.microsoft.com/office/powerpoint/2010/main" val="2474677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F5CB3467-C1A9-F0F5-A676-3070DF8A3AE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26C999B-51C2-0AED-01D8-815009563304}"/>
              </a:ext>
            </a:extLst>
          </p:cNvPr>
          <p:cNvSpPr txBox="1"/>
          <p:nvPr/>
        </p:nvSpPr>
        <p:spPr>
          <a:xfrm>
            <a:off x="0" y="0"/>
            <a:ext cx="4685337" cy="738664"/>
          </a:xfrm>
          <a:prstGeom prst="rect">
            <a:avLst/>
          </a:prstGeom>
          <a:noFill/>
        </p:spPr>
        <p:txBody>
          <a:bodyPr wrap="square" rtlCol="0">
            <a:spAutoFit/>
          </a:bodyPr>
          <a:lstStyle/>
          <a:p>
            <a:pPr algn="ctr"/>
            <a:r>
              <a:rPr lang="en-US" sz="2400" dirty="0"/>
              <a:t>“Don’t Get Around Much Anymore”</a:t>
            </a:r>
            <a:endParaRPr lang="en-US" sz="1100" i="1" dirty="0"/>
          </a:p>
          <a:p>
            <a:pPr algn="ctr"/>
            <a:r>
              <a:rPr lang="en-US" dirty="0"/>
              <a:t>Duke Ellington</a:t>
            </a:r>
          </a:p>
        </p:txBody>
      </p:sp>
      <p:pic>
        <p:nvPicPr>
          <p:cNvPr id="3" name="Picture 2" descr="Slowly&#10;&#10;AI-generated content may be incorrect.">
            <a:extLst>
              <a:ext uri="{FF2B5EF4-FFF2-40B4-BE49-F238E27FC236}">
                <a16:creationId xmlns:a16="http://schemas.microsoft.com/office/drawing/2014/main" id="{62BEE6EA-47CF-4EF0-8D7B-E2A1EEE102E1}"/>
              </a:ext>
            </a:extLst>
          </p:cNvPr>
          <p:cNvPicPr>
            <a:picLocks noChangeAspect="1"/>
          </p:cNvPicPr>
          <p:nvPr/>
        </p:nvPicPr>
        <p:blipFill>
          <a:blip r:embed="rId3"/>
          <a:stretch>
            <a:fillRect/>
          </a:stretch>
        </p:blipFill>
        <p:spPr>
          <a:xfrm>
            <a:off x="4901489" y="0"/>
            <a:ext cx="7073537" cy="6858000"/>
          </a:xfrm>
          <a:prstGeom prst="rect">
            <a:avLst/>
          </a:prstGeom>
        </p:spPr>
      </p:pic>
    </p:spTree>
    <p:extLst>
      <p:ext uri="{BB962C8B-B14F-4D97-AF65-F5344CB8AC3E}">
        <p14:creationId xmlns:p14="http://schemas.microsoft.com/office/powerpoint/2010/main" val="1798015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36342</TotalTime>
  <Words>1503</Words>
  <Application>Microsoft Office PowerPoint</Application>
  <PresentationFormat>Widescreen</PresentationFormat>
  <Paragraphs>182</Paragraphs>
  <Slides>34</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Aptos</vt:lpstr>
      <vt:lpstr>FreeSerif</vt:lpstr>
      <vt:lpstr>Calibri Light</vt:lpstr>
      <vt:lpstr>Yanone Kaffeesatz</vt:lpstr>
      <vt:lpstr>Calibri</vt:lpstr>
      <vt:lpstr>Office Theme</vt:lpstr>
      <vt:lpstr>MUS 223 • Literature and Materials of Music II</vt:lpstr>
      <vt:lpstr>Old Scales</vt:lpstr>
      <vt:lpstr>New Scale[s]: The Blues Scale</vt:lpstr>
      <vt:lpstr>New Scale[s]: The Blues Scale</vt:lpstr>
      <vt:lpstr>Rhythm: Swing</vt:lpstr>
      <vt:lpstr>Rhythm: Swing</vt:lpstr>
      <vt:lpstr>Rhythm: Backbeat &amp; Syncopation</vt:lpstr>
      <vt:lpstr>Harmony: Chord Symbols </vt:lpstr>
      <vt:lpstr>Harmony: Chord Symbols </vt:lpstr>
      <vt:lpstr>Harmony: Chord Symbols </vt:lpstr>
      <vt:lpstr>Harmony: Chord Symbols </vt:lpstr>
      <vt:lpstr>MUS 223 • Literature and Materials of Music II</vt:lpstr>
      <vt:lpstr>Warm-up</vt:lpstr>
      <vt:lpstr>Warm-up</vt:lpstr>
      <vt:lpstr>Warm-up</vt:lpstr>
      <vt:lpstr>Warm-up</vt:lpstr>
      <vt:lpstr>Warm-up</vt:lpstr>
      <vt:lpstr>Harmony: Chord Symbols </vt:lpstr>
      <vt:lpstr>Harmony: Root</vt:lpstr>
      <vt:lpstr>Harmony: Quality</vt:lpstr>
      <vt:lpstr>Harmony: Extensions, Alterations, Etc.</vt:lpstr>
      <vt:lpstr>Harmony: Bass Notes</vt:lpstr>
      <vt:lpstr>Harmony: Chord Symbols </vt:lpstr>
      <vt:lpstr>Practice</vt:lpstr>
      <vt:lpstr>MUS 223 • Literature and Materials of Music II</vt:lpstr>
      <vt:lpstr>Practice</vt:lpstr>
      <vt:lpstr>Harmony: Voicing</vt:lpstr>
      <vt:lpstr>Harmony: Voicing</vt:lpstr>
      <vt:lpstr>Harmony: Voicing</vt:lpstr>
      <vt:lpstr>Harmony: Voicing</vt:lpstr>
      <vt:lpstr>Harmony: Voicing</vt:lpstr>
      <vt:lpstr>Harmony: Voicing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Boyle</dc:creator>
  <cp:lastModifiedBy>Boyle, Matthew</cp:lastModifiedBy>
  <cp:revision>192</cp:revision>
  <cp:lastPrinted>2025-04-23T15:42:07Z</cp:lastPrinted>
  <dcterms:created xsi:type="dcterms:W3CDTF">2017-11-27T15:40:25Z</dcterms:created>
  <dcterms:modified xsi:type="dcterms:W3CDTF">2026-05-08T04:34:04Z</dcterms:modified>
</cp:coreProperties>
</file>